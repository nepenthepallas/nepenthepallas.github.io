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trictFirstAndLastChars="0" saveSubsetFonts="1">
  <p:sldMasterIdLst>
    <p:sldMasterId id="2147483676" r:id="rId1"/>
  </p:sldMasterIdLst>
  <p:notesMasterIdLst>
    <p:notesMasterId r:id="rId34"/>
  </p:notesMasterIdLst>
  <p:handoutMasterIdLst>
    <p:handoutMasterId r:id="rId35"/>
  </p:handoutMasterIdLst>
  <p:sldIdLst>
    <p:sldId id="486" r:id="rId2"/>
    <p:sldId id="487" r:id="rId3"/>
    <p:sldId id="488" r:id="rId4"/>
    <p:sldId id="489" r:id="rId5"/>
    <p:sldId id="516" r:id="rId6"/>
    <p:sldId id="517" r:id="rId7"/>
    <p:sldId id="518" r:id="rId8"/>
    <p:sldId id="519" r:id="rId9"/>
    <p:sldId id="520" r:id="rId10"/>
    <p:sldId id="541" r:id="rId11"/>
    <p:sldId id="521" r:id="rId12"/>
    <p:sldId id="522" r:id="rId13"/>
    <p:sldId id="523" r:id="rId14"/>
    <p:sldId id="524" r:id="rId15"/>
    <p:sldId id="525" r:id="rId16"/>
    <p:sldId id="542" r:id="rId17"/>
    <p:sldId id="526" r:id="rId18"/>
    <p:sldId id="527" r:id="rId19"/>
    <p:sldId id="528" r:id="rId20"/>
    <p:sldId id="529" r:id="rId21"/>
    <p:sldId id="533" r:id="rId22"/>
    <p:sldId id="530" r:id="rId23"/>
    <p:sldId id="531" r:id="rId24"/>
    <p:sldId id="532" r:id="rId25"/>
    <p:sldId id="534" r:id="rId26"/>
    <p:sldId id="535" r:id="rId27"/>
    <p:sldId id="536" r:id="rId28"/>
    <p:sldId id="537" r:id="rId29"/>
    <p:sldId id="538" r:id="rId30"/>
    <p:sldId id="543" r:id="rId31"/>
    <p:sldId id="539" r:id="rId32"/>
    <p:sldId id="540" r:id="rId3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12A23"/>
    <a:srgbClr val="24549F"/>
    <a:srgbClr val="424456"/>
    <a:srgbClr val="203B7F"/>
    <a:srgbClr val="5A6378"/>
    <a:srgbClr val="D4D4D6"/>
    <a:srgbClr val="3E7684"/>
    <a:srgbClr val="C9252C"/>
    <a:srgbClr val="0070C0"/>
    <a:srgbClr val="00739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217" autoAdjust="0"/>
    <p:restoredTop sz="90012" autoAdjust="0"/>
  </p:normalViewPr>
  <p:slideViewPr>
    <p:cSldViewPr snapToGrid="0">
      <p:cViewPr>
        <p:scale>
          <a:sx n="75" d="100"/>
          <a:sy n="75" d="100"/>
        </p:scale>
        <p:origin x="2394" y="600"/>
      </p:cViewPr>
      <p:guideLst>
        <p:guide orient="horz" pos="2160"/>
        <p:guide pos="2880"/>
      </p:guideLst>
    </p:cSldViewPr>
  </p:slideViewPr>
  <p:outlineViewPr>
    <p:cViewPr>
      <p:scale>
        <a:sx n="33" d="100"/>
        <a:sy n="33" d="100"/>
      </p:scale>
      <p:origin x="0" y="-15216"/>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3" d="100"/>
          <a:sy n="53" d="100"/>
        </p:scale>
        <p:origin x="-2064" y="-90"/>
      </p:cViewPr>
      <p:guideLst>
        <p:guide orient="horz" pos="2880"/>
        <p:guide pos="2160"/>
      </p:guideLst>
    </p:cSldViewPr>
  </p:notes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slide" Target="slides/slide12.xml" Id="rId13" /><Relationship Type="http://schemas.openxmlformats.org/officeDocument/2006/relationships/slide" Target="slides/slide17.xml" Id="rId18" /><Relationship Type="http://schemas.openxmlformats.org/officeDocument/2006/relationships/slide" Target="slides/slide25.xml" Id="rId26" /><Relationship Type="http://schemas.openxmlformats.org/officeDocument/2006/relationships/theme" Target="theme/theme1.xml" Id="rId39" /><Relationship Type="http://schemas.openxmlformats.org/officeDocument/2006/relationships/slide" Target="slides/slide2.xml" Id="rId3" /><Relationship Type="http://schemas.openxmlformats.org/officeDocument/2006/relationships/slide" Target="slides/slide20.xml" Id="rId21" /><Relationship Type="http://schemas.openxmlformats.org/officeDocument/2006/relationships/notesMaster" Target="notesMasters/notesMaster1.xml" Id="rId34"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slide" Target="slides/slide16.xml" Id="rId17" /><Relationship Type="http://schemas.openxmlformats.org/officeDocument/2006/relationships/slide" Target="slides/slide24.xml" Id="rId25" /><Relationship Type="http://schemas.openxmlformats.org/officeDocument/2006/relationships/slide" Target="slides/slide32.xml" Id="rId33" /><Relationship Type="http://schemas.openxmlformats.org/officeDocument/2006/relationships/viewProps" Target="viewProps.xml" Id="rId38" /><Relationship Type="http://schemas.openxmlformats.org/officeDocument/2006/relationships/slide" Target="slides/slide1.xml" Id="rId2" /><Relationship Type="http://schemas.openxmlformats.org/officeDocument/2006/relationships/slide" Target="slides/slide15.xml" Id="rId16" /><Relationship Type="http://schemas.openxmlformats.org/officeDocument/2006/relationships/slide" Target="slides/slide19.xml" Id="rId20" /><Relationship Type="http://schemas.openxmlformats.org/officeDocument/2006/relationships/slide" Target="slides/slide28.xml" Id="rId29"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23.xml" Id="rId24" /><Relationship Type="http://schemas.openxmlformats.org/officeDocument/2006/relationships/slide" Target="slides/slide31.xml" Id="rId32" /><Relationship Type="http://schemas.openxmlformats.org/officeDocument/2006/relationships/presProps" Target="presProps.xml" Id="rId37" /><Relationship Type="http://schemas.openxmlformats.org/officeDocument/2006/relationships/tableStyles" Target="tableStyles.xml" Id="rId40" /><Relationship Type="http://schemas.openxmlformats.org/officeDocument/2006/relationships/slide" Target="slides/slide4.xml" Id="rId5" /><Relationship Type="http://schemas.openxmlformats.org/officeDocument/2006/relationships/slide" Target="slides/slide14.xml" Id="rId15" /><Relationship Type="http://schemas.openxmlformats.org/officeDocument/2006/relationships/slide" Target="slides/slide22.xml" Id="rId23" /><Relationship Type="http://schemas.openxmlformats.org/officeDocument/2006/relationships/slide" Target="slides/slide27.xml" Id="rId28" /><Relationship Type="http://schemas.openxmlformats.org/officeDocument/2006/relationships/commentAuthors" Target="commentAuthors.xml" Id="rId36" /><Relationship Type="http://schemas.openxmlformats.org/officeDocument/2006/relationships/slide" Target="slides/slide9.xml" Id="rId10" /><Relationship Type="http://schemas.openxmlformats.org/officeDocument/2006/relationships/slide" Target="slides/slide18.xml" Id="rId19" /><Relationship Type="http://schemas.openxmlformats.org/officeDocument/2006/relationships/slide" Target="slides/slide30.xml" Id="rId31"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slide" Target="slides/slide13.xml" Id="rId14" /><Relationship Type="http://schemas.openxmlformats.org/officeDocument/2006/relationships/slide" Target="slides/slide21.xml" Id="rId22" /><Relationship Type="http://schemas.openxmlformats.org/officeDocument/2006/relationships/slide" Target="slides/slide26.xml" Id="rId27" /><Relationship Type="http://schemas.openxmlformats.org/officeDocument/2006/relationships/slide" Target="slides/slide29.xml" Id="rId30" /><Relationship Type="http://schemas.openxmlformats.org/officeDocument/2006/relationships/handoutMaster" Target="handoutMasters/handoutMaster1.xml" Id="rId35" /><Relationship Type="http://schemas.openxmlformats.org/officeDocument/2006/relationships/customXml" Target="/customXML/item.xml" Id="R3a5efa7508e54e43"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70FC7E9-1DE5-4DAF-9DC8-2A3010BC5EA9}" type="datetimeFigureOut">
              <a:rPr lang="en-US" smtClean="0"/>
              <a:t>11/28/2020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4737BBD-4FDB-4AD1-8765-A7964BE0BEE8}" type="slidenum">
              <a:rPr lang="en-US" smtClean="0"/>
              <a:t>‹#›</a:t>
            </a:fld>
            <a:endParaRPr lang="en-US" dirty="0"/>
          </a:p>
        </p:txBody>
      </p:sp>
    </p:spTree>
    <p:extLst>
      <p:ext uri="{BB962C8B-B14F-4D97-AF65-F5344CB8AC3E}">
        <p14:creationId xmlns:p14="http://schemas.microsoft.com/office/powerpoint/2010/main" val="34440661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5121"/>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en-US" dirty="0"/>
          </a:p>
        </p:txBody>
      </p:sp>
      <p:sp>
        <p:nvSpPr>
          <p:cNvPr id="63491" name="Rectangle 5122"/>
          <p:cNvSpPr>
            <a:spLocks noGrp="1" noChangeArrowheads="1"/>
          </p:cNvSpPr>
          <p:nvPr>
            <p:ph type="dt" idx="1"/>
          </p:nvPr>
        </p:nvSpPr>
        <p:spPr bwMode="auto">
          <a:xfrm>
            <a:off x="3884613"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en-US" dirty="0"/>
          </a:p>
        </p:txBody>
      </p:sp>
      <p:sp>
        <p:nvSpPr>
          <p:cNvPr id="63492" name="Rectangle 5123"/>
          <p:cNvSpPr>
            <a:spLocks noGrp="1" noRot="1" noChangeAspect="1" noChangeArrowheads="1" noTextEdit="1"/>
          </p:cNvSpPr>
          <p:nvPr>
            <p:ph type="sldImg" idx="2"/>
          </p:nvPr>
        </p:nvSpPr>
        <p:spPr bwMode="auto">
          <a:xfrm>
            <a:off x="1143000" y="685800"/>
            <a:ext cx="4572000" cy="3429000"/>
          </a:xfrm>
          <a:prstGeom prst="rect">
            <a:avLst/>
          </a:prstGeom>
          <a:noFill/>
          <a:ln w="9525" algn="ctr">
            <a:solidFill>
              <a:srgbClr val="000000"/>
            </a:solidFill>
            <a:miter lim="800000"/>
            <a:headEnd/>
            <a:tailEnd/>
          </a:ln>
        </p:spPr>
      </p:sp>
      <p:sp>
        <p:nvSpPr>
          <p:cNvPr id="5125" name="Notes Placeholder 5124"/>
          <p:cNvSpPr>
            <a:spLocks noGrp="1" noChangeArrowheads="1"/>
          </p:cNvSpPr>
          <p:nvPr>
            <p:ph type="body" sz="quarter" idx="3"/>
          </p:nvPr>
        </p:nvSpPr>
        <p:spPr bwMode="auto">
          <a:xfrm>
            <a:off x="685800" y="4343400"/>
            <a:ext cx="5486400" cy="4114800"/>
          </a:xfrm>
          <a:prstGeom prst="rect">
            <a:avLst/>
          </a:prstGeom>
          <a:noFill/>
          <a:ln w="9525" cap="flat" cmpd="sng" algn="ctr">
            <a:noFill/>
            <a:prstDash val="solid"/>
            <a:miter lim="800000"/>
            <a:headEnd type="none" w="med" len="med"/>
            <a:tailEnd type="none" w="med" len="me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3494" name="Rectangle 5125"/>
          <p:cNvSpPr>
            <a:spLocks noGrp="1" noChangeArrowheads="1"/>
          </p:cNvSpPr>
          <p:nvPr>
            <p:ph type="ftr" sz="quarter" idx="4"/>
          </p:nvPr>
        </p:nvSpPr>
        <p:spPr bwMode="auto">
          <a:xfrm>
            <a:off x="0" y="8685213"/>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endParaRPr lang="en-US" dirty="0"/>
          </a:p>
        </p:txBody>
      </p:sp>
      <p:sp>
        <p:nvSpPr>
          <p:cNvPr id="5127" name="Slide Number Placeholder 5126"/>
          <p:cNvSpPr>
            <a:spLocks noGrp="1" noChangeArrowheads="1"/>
          </p:cNvSpPr>
          <p:nvPr>
            <p:ph type="sldNum" sz="quarter" idx="5"/>
          </p:nvPr>
        </p:nvSpPr>
        <p:spPr bwMode="auto">
          <a:xfrm>
            <a:off x="3884613" y="8685213"/>
            <a:ext cx="2971800" cy="457200"/>
          </a:xfrm>
          <a:prstGeom prst="rect">
            <a:avLst/>
          </a:prstGeom>
          <a:noFill/>
          <a:ln w="9525" cap="flat" cmpd="sng" algn="ctr">
            <a:noFill/>
            <a:prstDash val="solid"/>
            <a:miter lim="800000"/>
            <a:headEnd type="none" w="med" len="med"/>
            <a:tailEnd type="none" w="med" len="med"/>
          </a:ln>
          <a:effectLst/>
        </p:spPr>
        <p:txBody>
          <a:bodyPr vert="horz" wrap="square" lIns="91440" tIns="45720" rIns="91440" bIns="45720" numCol="1" anchor="b" anchorCtr="0" compatLnSpc="1">
            <a:prstTxWarp prst="textNoShape">
              <a:avLst/>
            </a:prstTxWarp>
          </a:bodyPr>
          <a:lstStyle>
            <a:lvl1pPr algn="r">
              <a:defRPr sz="1200"/>
            </a:lvl1pPr>
          </a:lstStyle>
          <a:p>
            <a:fld id="{FCA16ACA-BEA9-4113-B004-2C9FC464C5F8}" type="slidenum">
              <a:rPr lang="en-US"/>
              <a:pPr/>
              <a:t>‹#›</a:t>
            </a:fld>
            <a:endParaRPr lang="en-US" dirty="0"/>
          </a:p>
        </p:txBody>
      </p:sp>
    </p:spTree>
    <p:extLst>
      <p:ext uri="{BB962C8B-B14F-4D97-AF65-F5344CB8AC3E}">
        <p14:creationId xmlns:p14="http://schemas.microsoft.com/office/powerpoint/2010/main" val="157493484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9EAEEF-EA87-45A5-AB17-DF2F4D00AFC7}" type="slidenum">
              <a:rPr lang="en-US" altLang="en-US" smtClean="0"/>
              <a:pPr/>
              <a:t>1</a:t>
            </a:fld>
            <a:endParaRPr lang="en-US" altLang="en-US" dirty="0"/>
          </a:p>
        </p:txBody>
      </p:sp>
    </p:spTree>
    <p:extLst>
      <p:ext uri="{BB962C8B-B14F-4D97-AF65-F5344CB8AC3E}">
        <p14:creationId xmlns:p14="http://schemas.microsoft.com/office/powerpoint/2010/main" val="16811224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CA-BEA9-4113-B004-2C9FC464C5F8}" type="slidenum">
              <a:rPr lang="en-US" smtClean="0"/>
              <a:pPr/>
              <a:t>3</a:t>
            </a:fld>
            <a:endParaRPr lang="en-US" dirty="0"/>
          </a:p>
        </p:txBody>
      </p:sp>
    </p:spTree>
    <p:extLst>
      <p:ext uri="{BB962C8B-B14F-4D97-AF65-F5344CB8AC3E}">
        <p14:creationId xmlns:p14="http://schemas.microsoft.com/office/powerpoint/2010/main" val="2586367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CA-BEA9-4113-B004-2C9FC464C5F8}" type="slidenum">
              <a:rPr lang="en-US" smtClean="0"/>
              <a:pPr/>
              <a:t>5</a:t>
            </a:fld>
            <a:endParaRPr lang="en-US" dirty="0"/>
          </a:p>
        </p:txBody>
      </p:sp>
    </p:spTree>
    <p:extLst>
      <p:ext uri="{BB962C8B-B14F-4D97-AF65-F5344CB8AC3E}">
        <p14:creationId xmlns:p14="http://schemas.microsoft.com/office/powerpoint/2010/main" val="36883970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CA-BEA9-4113-B004-2C9FC464C5F8}" type="slidenum">
              <a:rPr lang="en-US" smtClean="0"/>
              <a:pPr/>
              <a:t>6</a:t>
            </a:fld>
            <a:endParaRPr lang="en-US" dirty="0"/>
          </a:p>
        </p:txBody>
      </p:sp>
    </p:spTree>
    <p:extLst>
      <p:ext uri="{BB962C8B-B14F-4D97-AF65-F5344CB8AC3E}">
        <p14:creationId xmlns:p14="http://schemas.microsoft.com/office/powerpoint/2010/main" val="38179799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Table 19-1: </a:t>
            </a:r>
            <a:r>
              <a:rPr lang="en-US" dirty="0"/>
              <a:t>Four Types of Goods</a:t>
            </a:r>
          </a:p>
        </p:txBody>
      </p:sp>
      <p:sp>
        <p:nvSpPr>
          <p:cNvPr id="4" name="Slide Number Placeholder 3"/>
          <p:cNvSpPr>
            <a:spLocks noGrp="1"/>
          </p:cNvSpPr>
          <p:nvPr>
            <p:ph type="sldNum" sz="quarter" idx="10"/>
          </p:nvPr>
        </p:nvSpPr>
        <p:spPr/>
        <p:txBody>
          <a:bodyPr/>
          <a:lstStyle/>
          <a:p>
            <a:fld id="{FCA16ACA-BEA9-4113-B004-2C9FC464C5F8}" type="slidenum">
              <a:rPr lang="en-US" smtClean="0"/>
              <a:pPr/>
              <a:t>7</a:t>
            </a:fld>
            <a:endParaRPr lang="en-US" dirty="0"/>
          </a:p>
        </p:txBody>
      </p:sp>
    </p:spTree>
    <p:extLst>
      <p:ext uri="{BB962C8B-B14F-4D97-AF65-F5344CB8AC3E}">
        <p14:creationId xmlns:p14="http://schemas.microsoft.com/office/powerpoint/2010/main" val="3606123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b="1" dirty="0"/>
              <a:t>Figure 19-1: </a:t>
            </a:r>
            <a:r>
              <a:rPr lang="en-US" sz="1200" b="0" i="0" kern="1200" dirty="0">
                <a:solidFill>
                  <a:schemeClr val="tx1"/>
                </a:solidFill>
                <a:effectLst/>
                <a:latin typeface="Arial" charset="0"/>
                <a:ea typeface="+mn-ea"/>
                <a:cs typeface="+mn-cs"/>
              </a:rPr>
              <a:t>Where’s the Catch?</a:t>
            </a: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b="0" i="0" kern="1200" dirty="0">
                <a:solidFill>
                  <a:schemeClr val="tx1"/>
                </a:solidFill>
                <a:effectLst/>
                <a:latin typeface="Arial" charset="0"/>
                <a:ea typeface="+mn-ea"/>
                <a:cs typeface="+mn-cs"/>
              </a:rPr>
              <a:t>Data from: Commission for the Conservation of Southern Bluefin Tuna.</a:t>
            </a:r>
            <a:endParaRPr lang="en-US" dirty="0"/>
          </a:p>
        </p:txBody>
      </p:sp>
      <p:sp>
        <p:nvSpPr>
          <p:cNvPr id="4" name="Slide Number Placeholder 3"/>
          <p:cNvSpPr>
            <a:spLocks noGrp="1"/>
          </p:cNvSpPr>
          <p:nvPr>
            <p:ph type="sldNum" sz="quarter" idx="10"/>
          </p:nvPr>
        </p:nvSpPr>
        <p:spPr/>
        <p:txBody>
          <a:bodyPr/>
          <a:lstStyle/>
          <a:p>
            <a:fld id="{FCA16ACA-BEA9-4113-B004-2C9FC464C5F8}" type="slidenum">
              <a:rPr lang="en-US" smtClean="0"/>
              <a:pPr/>
              <a:t>23</a:t>
            </a:fld>
            <a:endParaRPr lang="en-US" dirty="0"/>
          </a:p>
        </p:txBody>
      </p:sp>
    </p:spTree>
    <p:extLst>
      <p:ext uri="{BB962C8B-B14F-4D97-AF65-F5344CB8AC3E}">
        <p14:creationId xmlns:p14="http://schemas.microsoft.com/office/powerpoint/2010/main" val="28714575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a:t>Figure 19-2: </a:t>
            </a:r>
            <a:r>
              <a:rPr lang="en-US" dirty="0"/>
              <a:t>A Tragedy Prevented by Property Rights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ITQs: Individual transferable</a:t>
            </a:r>
            <a:r>
              <a:rPr lang="en-US" baseline="0" dirty="0"/>
              <a:t> quotas.</a:t>
            </a:r>
            <a:endParaRPr lang="en-US" dirty="0"/>
          </a:p>
        </p:txBody>
      </p:sp>
      <p:sp>
        <p:nvSpPr>
          <p:cNvPr id="4" name="Slide Number Placeholder 3"/>
          <p:cNvSpPr>
            <a:spLocks noGrp="1"/>
          </p:cNvSpPr>
          <p:nvPr>
            <p:ph type="sldNum" sz="quarter" idx="10"/>
          </p:nvPr>
        </p:nvSpPr>
        <p:spPr/>
        <p:txBody>
          <a:bodyPr/>
          <a:lstStyle/>
          <a:p>
            <a:fld id="{FCA16ACA-BEA9-4113-B004-2C9FC464C5F8}" type="slidenum">
              <a:rPr lang="en-US" smtClean="0"/>
              <a:pPr/>
              <a:t>28</a:t>
            </a:fld>
            <a:endParaRPr lang="en-US" dirty="0"/>
          </a:p>
        </p:txBody>
      </p:sp>
    </p:spTree>
    <p:extLst>
      <p:ext uri="{BB962C8B-B14F-4D97-AF65-F5344CB8AC3E}">
        <p14:creationId xmlns:p14="http://schemas.microsoft.com/office/powerpoint/2010/main" val="41687675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CA16ACA-BEA9-4113-B004-2C9FC464C5F8}" type="slidenum">
              <a:rPr lang="en-US" smtClean="0"/>
              <a:pPr/>
              <a:t>32</a:t>
            </a:fld>
            <a:endParaRPr lang="en-US" dirty="0"/>
          </a:p>
        </p:txBody>
      </p:sp>
    </p:spTree>
    <p:extLst>
      <p:ext uri="{BB962C8B-B14F-4D97-AF65-F5344CB8AC3E}">
        <p14:creationId xmlns:p14="http://schemas.microsoft.com/office/powerpoint/2010/main" val="2971934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6" name="Rectangle 15"/>
          <p:cNvSpPr/>
          <p:nvPr/>
        </p:nvSpPr>
        <p:spPr bwMode="white">
          <a:xfrm>
            <a:off x="0" y="0"/>
            <a:ext cx="9144000" cy="1371600"/>
          </a:xfrm>
          <a:prstGeom prst="rect">
            <a:avLst/>
          </a:prstGeom>
          <a:solidFill>
            <a:srgbClr val="812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
                <a:srgbClr val="59305B"/>
              </a:buClr>
            </a:pPr>
            <a:endParaRPr lang="en-US" dirty="0">
              <a:solidFill>
                <a:srgbClr val="203B7F"/>
              </a:solidFill>
            </a:endParaRPr>
          </a:p>
        </p:txBody>
      </p:sp>
      <p:sp>
        <p:nvSpPr>
          <p:cNvPr id="11" name="Title 10"/>
          <p:cNvSpPr>
            <a:spLocks noGrp="1"/>
          </p:cNvSpPr>
          <p:nvPr>
            <p:ph type="title"/>
          </p:nvPr>
        </p:nvSpPr>
        <p:spPr>
          <a:xfrm>
            <a:off x="457200" y="228600"/>
            <a:ext cx="8229600" cy="622828"/>
          </a:xfrm>
          <a:solidFill>
            <a:srgbClr val="812A23"/>
          </a:solidFill>
        </p:spPr>
        <p:txBody>
          <a:bodyPr anchor="t">
            <a:noAutofit/>
          </a:bodyPr>
          <a:lstStyle>
            <a:lvl1pPr>
              <a:defRPr sz="3600">
                <a:latin typeface="Arial" pitchFamily="34" charset="0"/>
                <a:ea typeface="Verdana" pitchFamily="34" charset="0"/>
                <a:cs typeface="Arial" pitchFamily="34" charset="0"/>
              </a:defRPr>
            </a:lvl1pPr>
          </a:lstStyle>
          <a:p>
            <a:r>
              <a:rPr lang="en-US" dirty="0"/>
              <a:t>Click to edit Master title style</a:t>
            </a:r>
          </a:p>
        </p:txBody>
      </p:sp>
      <p:sp>
        <p:nvSpPr>
          <p:cNvPr id="7" name="Conten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400">
                <a:solidFill>
                  <a:schemeClr val="bg1"/>
                </a:solidFill>
                <a:latin typeface="Arial" pitchFamily="34" charset="0"/>
                <a:ea typeface="Verdana" pitchFamily="34" charset="0"/>
                <a:cs typeface="Arial" pitchFamily="34" charset="0"/>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4400" baseline="0">
                <a:latin typeface="Arial" pitchFamily="34" charset="0"/>
                <a:ea typeface="Verdana" pitchFamily="34" charset="0"/>
                <a:cs typeface="Arial" pitchFamily="34" charset="0"/>
              </a:defRPr>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800">
                <a:latin typeface="Arial" pitchFamily="34" charset="0"/>
                <a:ea typeface="Verdana" pitchFamily="34" charset="0"/>
                <a:cs typeface="Arial" pitchFamily="34" charset="0"/>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3" name="Rectangle 12"/>
          <p:cNvSpPr/>
          <p:nvPr/>
        </p:nvSpPr>
        <p:spPr bwMode="white">
          <a:xfrm>
            <a:off x="-7938" y="6248400"/>
            <a:ext cx="9161464" cy="629874"/>
          </a:xfrm>
          <a:prstGeom prst="rect">
            <a:avLst/>
          </a:prstGeom>
          <a:solidFill>
            <a:srgbClr val="812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3B7F"/>
              </a:solidFill>
            </a:endParaRPr>
          </a:p>
        </p:txBody>
      </p:sp>
      <p:sp>
        <p:nvSpPr>
          <p:cNvPr id="5" name="Content Placeholder 4"/>
          <p:cNvSpPr>
            <a:spLocks noGrp="1"/>
          </p:cNvSpPr>
          <p:nvPr>
            <p:ph sz="quarter" idx="16" hasCustomPrompt="1"/>
          </p:nvPr>
        </p:nvSpPr>
        <p:spPr>
          <a:xfrm>
            <a:off x="1600200" y="6285230"/>
            <a:ext cx="7543800" cy="572770"/>
          </a:xfrm>
          <a:solidFill>
            <a:srgbClr val="812A23"/>
          </a:solidFill>
        </p:spPr>
        <p:txBody>
          <a:bodyPr>
            <a:noAutofit/>
          </a:bodyPr>
          <a:lstStyle>
            <a:lvl1pPr algn="ctr">
              <a:defRPr sz="1100">
                <a:solidFill>
                  <a:schemeClr val="bg1"/>
                </a:solidFill>
                <a:latin typeface="Arial" pitchFamily="34" charset="0"/>
                <a:cs typeface="Arial" pitchFamily="34" charset="0"/>
              </a:defRPr>
            </a:lvl1pPr>
            <a:lvl2pPr>
              <a:defRPr sz="1100">
                <a:latin typeface="Arial" pitchFamily="34" charset="0"/>
                <a:cs typeface="Arial" pitchFamily="34" charset="0"/>
              </a:defRPr>
            </a:lvl2pPr>
            <a:lvl3pPr>
              <a:defRPr sz="1100">
                <a:latin typeface="Arial" pitchFamily="34" charset="0"/>
                <a:cs typeface="Arial" pitchFamily="34" charset="0"/>
              </a:defRPr>
            </a:lvl3pPr>
            <a:lvl4pPr>
              <a:defRPr sz="1100">
                <a:latin typeface="Arial" pitchFamily="34" charset="0"/>
                <a:cs typeface="Arial" pitchFamily="34" charset="0"/>
              </a:defRPr>
            </a:lvl4pPr>
            <a:lvl5pPr>
              <a:defRPr sz="1100">
                <a:latin typeface="Arial" pitchFamily="34" charset="0"/>
                <a:cs typeface="Arial" pitchFamily="34" charset="0"/>
              </a:defRPr>
            </a:lvl5pPr>
          </a:lstStyle>
          <a:p>
            <a:pPr lvl="0"/>
            <a:r>
              <a:rPr lang="en-US" dirty="0"/>
              <a:t> Click to edit Master text styles</a:t>
            </a:r>
          </a:p>
        </p:txBody>
      </p:sp>
      <p:sp>
        <p:nvSpPr>
          <p:cNvPr id="3" name="Picture Placeholder 2"/>
          <p:cNvSpPr>
            <a:spLocks noGrp="1"/>
          </p:cNvSpPr>
          <p:nvPr>
            <p:ph type="pic" sz="quarter" idx="17"/>
          </p:nvPr>
        </p:nvSpPr>
        <p:spPr>
          <a:xfrm>
            <a:off x="247650" y="4781550"/>
            <a:ext cx="2724150" cy="990600"/>
          </a:xfrm>
        </p:spPr>
        <p:txBody>
          <a:bodyPr/>
          <a:lstStyle/>
          <a:p>
            <a:endParaRPr lang="en-US" dirty="0"/>
          </a:p>
        </p:txBody>
      </p:sp>
    </p:spTree>
    <p:extLst>
      <p:ext uri="{BB962C8B-B14F-4D97-AF65-F5344CB8AC3E}">
        <p14:creationId xmlns:p14="http://schemas.microsoft.com/office/powerpoint/2010/main" val="4110609226"/>
      </p:ext>
    </p:extLst>
  </p:cSld>
  <p:clrMapOvr>
    <a:masterClrMapping/>
  </p:clrMapOvr>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 y="17266"/>
            <a:ext cx="9143086" cy="1059977"/>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a:xfrm>
            <a:off x="209550" y="1319314"/>
            <a:ext cx="8763000" cy="4782934"/>
          </a:xfrm>
        </p:spPr>
        <p:txBody>
          <a:bodyPr/>
          <a:lstStyle>
            <a:lvl1pPr marL="461963" indent="-461963">
              <a:spcBef>
                <a:spcPts val="624"/>
              </a:spcBef>
              <a:buClr>
                <a:srgbClr val="812A23"/>
              </a:buClr>
              <a:buSzPct val="100000"/>
              <a:defRPr sz="2600"/>
            </a:lvl1pPr>
            <a:lvl2pPr marL="914400" indent="-457200">
              <a:spcBef>
                <a:spcPts val="624"/>
              </a:spcBef>
              <a:buClr>
                <a:srgbClr val="812A23"/>
              </a:buClr>
              <a:defRPr/>
            </a:lvl2pPr>
            <a:lvl3pPr marL="1376363" indent="-461963">
              <a:spcBef>
                <a:spcPts val="624"/>
              </a:spcBef>
              <a:buClr>
                <a:srgbClr val="812A23"/>
              </a:buClr>
              <a:buFont typeface="Wingdings" pitchFamily="2" charset="2"/>
              <a:buChar char="§"/>
              <a:defRPr/>
            </a:lvl3pPr>
            <a:lvl4pPr marL="1828800" indent="-457200">
              <a:spcBef>
                <a:spcPts val="624"/>
              </a:spcBef>
              <a:buClr>
                <a:srgbClr val="812A23"/>
              </a:buClr>
              <a:buFont typeface="Courier New" pitchFamily="49" charset="0"/>
              <a:buChar char="o"/>
              <a:defRPr/>
            </a:lvl4pPr>
            <a:lvl5pPr marL="2286000" indent="-457200">
              <a:spcBef>
                <a:spcPts val="624"/>
              </a:spcBef>
              <a:buClr>
                <a:srgbClr val="812A23"/>
              </a:buClr>
              <a:defRPr sz="1800"/>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193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916189" y="2917024"/>
            <a:ext cx="2241024" cy="1754230"/>
          </a:xfrm>
        </p:spPr>
        <p:txBody>
          <a:bodyPr/>
          <a:lstStyle>
            <a:lvl1pPr>
              <a:buClr>
                <a:srgbClr val="812A23"/>
              </a:buClr>
              <a:defRPr/>
            </a:lvl1pPr>
          </a:lstStyle>
          <a:p>
            <a:r>
              <a:rPr lang="en-US" dirty="0"/>
              <a:t>Click icon to add picture</a:t>
            </a:r>
          </a:p>
        </p:txBody>
      </p:sp>
      <p:sp>
        <p:nvSpPr>
          <p:cNvPr id="11" name="Text Placeholder 3"/>
          <p:cNvSpPr>
            <a:spLocks noGrp="1"/>
          </p:cNvSpPr>
          <p:nvPr>
            <p:ph type="body" sz="half" idx="2"/>
          </p:nvPr>
        </p:nvSpPr>
        <p:spPr>
          <a:xfrm>
            <a:off x="233649" y="5486400"/>
            <a:ext cx="8663606" cy="6651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Content Placeholder 3"/>
          <p:cNvSpPr>
            <a:spLocks noGrp="1"/>
          </p:cNvSpPr>
          <p:nvPr>
            <p:ph sz="quarter" idx="11"/>
          </p:nvPr>
        </p:nvSpPr>
        <p:spPr>
          <a:xfrm>
            <a:off x="278272" y="1562102"/>
            <a:ext cx="8589962" cy="479425"/>
          </a:xfrm>
        </p:spPr>
        <p:txBody>
          <a:bodyPr/>
          <a:lstStyle>
            <a:lvl1pPr>
              <a:buClr>
                <a:srgbClr val="812A23"/>
              </a:buClr>
              <a:defRPr/>
            </a:lvl1pPr>
            <a:lvl2pPr>
              <a:buClr>
                <a:srgbClr val="812A23"/>
              </a:buClr>
              <a:defRPr/>
            </a:lvl2pPr>
            <a:lvl3pPr>
              <a:buClr>
                <a:srgbClr val="812A23"/>
              </a:buClr>
              <a:defRPr/>
            </a:lvl3pPr>
            <a:lvl4pPr>
              <a:buClr>
                <a:srgbClr val="812A23"/>
              </a:buClr>
              <a:defRPr/>
            </a:lvl4pPr>
            <a:lvl5pPr>
              <a:buClr>
                <a:srgbClr val="812A23"/>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able Placeholder 4"/>
          <p:cNvSpPr>
            <a:spLocks noGrp="1"/>
          </p:cNvSpPr>
          <p:nvPr>
            <p:ph type="tbl" sz="quarter" idx="12"/>
          </p:nvPr>
        </p:nvSpPr>
        <p:spPr>
          <a:xfrm>
            <a:off x="5292380" y="2901260"/>
            <a:ext cx="1828800" cy="1828800"/>
          </a:xfrm>
        </p:spPr>
        <p:txBody>
          <a:bodyPr/>
          <a:lstStyle>
            <a:lvl1pPr>
              <a:buClr>
                <a:srgbClr val="812A23"/>
              </a:buClr>
              <a:defRPr/>
            </a:lvl1pPr>
          </a:lstStyle>
          <a:p>
            <a:endParaRPr lang="en-US" dirty="0"/>
          </a:p>
        </p:txBody>
      </p:sp>
      <p:sp>
        <p:nvSpPr>
          <p:cNvPr id="9" name="Rectangle 8"/>
          <p:cNvSpPr/>
          <p:nvPr userDrawn="1"/>
        </p:nvSpPr>
        <p:spPr bwMode="white">
          <a:xfrm>
            <a:off x="0" y="0"/>
            <a:ext cx="9144000" cy="1133554"/>
          </a:xfrm>
          <a:prstGeom prst="rect">
            <a:avLst/>
          </a:prstGeom>
          <a:solidFill>
            <a:srgbClr val="812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3B7F"/>
              </a:solidFill>
            </a:endParaRPr>
          </a:p>
        </p:txBody>
      </p:sp>
      <p:sp>
        <p:nvSpPr>
          <p:cNvPr id="12" name="Rectangle 11"/>
          <p:cNvSpPr/>
          <p:nvPr userDrawn="1"/>
        </p:nvSpPr>
        <p:spPr bwMode="white">
          <a:xfrm>
            <a:off x="-7938" y="6248400"/>
            <a:ext cx="9161464" cy="629874"/>
          </a:xfrm>
          <a:prstGeom prst="rect">
            <a:avLst/>
          </a:prstGeom>
          <a:solidFill>
            <a:srgbClr val="812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3B7F"/>
              </a:solidFill>
            </a:endParaRPr>
          </a:p>
        </p:txBody>
      </p:sp>
      <p:sp>
        <p:nvSpPr>
          <p:cNvPr id="13" name="Content Placeholder 9"/>
          <p:cNvSpPr txBox="1">
            <a:spLocks/>
          </p:cNvSpPr>
          <p:nvPr userDrawn="1"/>
        </p:nvSpPr>
        <p:spPr>
          <a:xfrm>
            <a:off x="18250" y="6276552"/>
            <a:ext cx="9127998" cy="590126"/>
          </a:xfrm>
          <a:prstGeom prst="rect">
            <a:avLst/>
          </a:prstGeom>
          <a:solidFill>
            <a:srgbClr val="812A23"/>
          </a:solidFill>
        </p:spPr>
        <p:txBody>
          <a:bodyPr anchor="ctr"/>
          <a:lstStyle>
            <a:lvl1pPr marL="342900" indent="-342900" algn="l" defTabSz="914400" rtl="0" eaLnBrk="1" latinLnBrk="0" hangingPunct="1">
              <a:spcBef>
                <a:spcPct val="20000"/>
              </a:spcBef>
              <a:buClr>
                <a:srgbClr val="24549F"/>
              </a:buClr>
              <a:buFont typeface="Arial" pitchFamily="34" charset="0"/>
              <a:buChar char="•"/>
              <a:defRPr lang="en-US" sz="2600" kern="1200" dirty="0" smtClean="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24549F"/>
              </a:buClr>
              <a:buFont typeface="Arial" pitchFamily="34" charset="0"/>
              <a:buChar char="–"/>
              <a:defRPr lang="en-US" sz="2400" kern="1200" dirty="0" smtClean="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24549F"/>
              </a:buClr>
              <a:buFont typeface="Wingdings" pitchFamily="2" charset="2"/>
              <a:buChar char="§"/>
              <a:defRPr lang="en-US" sz="2200" kern="1200" dirty="0" smtClean="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24549F"/>
              </a:buClr>
              <a:buFont typeface="Courier New" pitchFamily="49" charset="0"/>
              <a:buChar char="o"/>
              <a:defRPr lang="en-US" sz="2000" kern="1200" dirty="0" smtClean="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24549F"/>
              </a:buClr>
              <a:buFont typeface="Arial" pitchFamily="34" charset="0"/>
              <a:buChar char="»"/>
              <a:defRPr lang="en-US" sz="2000" kern="1200" dirty="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624"/>
              </a:spcBef>
              <a:buFont typeface="Arial" pitchFamily="34" charset="0"/>
              <a:buNone/>
            </a:pPr>
            <a:r>
              <a:rPr lang="en-US" sz="1200" dirty="0">
                <a:solidFill>
                  <a:schemeClr val="bg1"/>
                </a:solidFill>
              </a:rPr>
              <a:t>© 2021 Worth Publishers. All Rights Reserved.</a:t>
            </a:r>
          </a:p>
        </p:txBody>
      </p:sp>
      <p:sp>
        <p:nvSpPr>
          <p:cNvPr id="15" name="Title 7"/>
          <p:cNvSpPr>
            <a:spLocks noGrp="1"/>
          </p:cNvSpPr>
          <p:nvPr>
            <p:ph type="title"/>
          </p:nvPr>
        </p:nvSpPr>
        <p:spPr>
          <a:xfrm>
            <a:off x="457" y="17266"/>
            <a:ext cx="9143086" cy="1059977"/>
          </a:xfrm>
        </p:spPr>
        <p:txBody>
          <a:bodyPr>
            <a:normAutofit/>
          </a:bodyPr>
          <a:lstStyle>
            <a:lvl1pPr algn="ctr">
              <a:defRPr sz="3600">
                <a:latin typeface="Arial" pitchFamily="34" charset="0"/>
                <a:ea typeface="Verdana" pitchFamily="34" charset="0"/>
                <a:cs typeface="Arial" pitchFamily="34" charset="0"/>
              </a:defRPr>
            </a:lvl1pPr>
          </a:lstStyle>
          <a:p>
            <a:r>
              <a:rPr lang="en-US"/>
              <a:t>Click to edit Master title style</a:t>
            </a:r>
            <a:endParaRPr lang="en-US" dirty="0"/>
          </a:p>
        </p:txBody>
      </p:sp>
      <p:sp>
        <p:nvSpPr>
          <p:cNvPr id="6" name="Table Placeholder 5"/>
          <p:cNvSpPr>
            <a:spLocks noGrp="1"/>
          </p:cNvSpPr>
          <p:nvPr>
            <p:ph type="tbl" sz="quarter" idx="13"/>
          </p:nvPr>
        </p:nvSpPr>
        <p:spPr>
          <a:xfrm>
            <a:off x="7515225" y="3257550"/>
            <a:ext cx="1257300" cy="1428750"/>
          </a:xfrm>
        </p:spPr>
        <p:txBody>
          <a:bodyPr/>
          <a:lstStyle/>
          <a:p>
            <a:endParaRPr lang="en-US" dirty="0"/>
          </a:p>
        </p:txBody>
      </p:sp>
    </p:spTree>
    <p:extLst>
      <p:ext uri="{BB962C8B-B14F-4D97-AF65-F5344CB8AC3E}">
        <p14:creationId xmlns:p14="http://schemas.microsoft.com/office/powerpoint/2010/main" val="1021141666"/>
      </p:ext>
    </p:extLst>
  </p:cSld>
  <p:clrMapOvr>
    <a:masterClrMapping/>
  </p:clrMapOvr>
  <p:transition spd="slow"/>
  <p:hf sldNum="0" hd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Content Placeholder 1"/>
          <p:cNvSpPr>
            <a:spLocks noGrp="1"/>
          </p:cNvSpPr>
          <p:nvPr>
            <p:ph type="title"/>
          </p:nvPr>
        </p:nvSpPr>
        <p:spPr>
          <a:xfrm>
            <a:off x="457200" y="27709"/>
            <a:ext cx="8229600" cy="1039091"/>
          </a:xfrm>
          <a:prstGeom prst="rect">
            <a:avLst/>
          </a:prstGeom>
        </p:spPr>
        <p:txBody>
          <a:bodyPr vert="horz" lIns="91440" tIns="45720" rIns="91440" bIns="45720" rtlCol="0" anchor="ctr">
            <a:normAutofit/>
          </a:bodyPr>
          <a:lstStyle/>
          <a:p>
            <a:r>
              <a:rPr lang="en-US"/>
              <a:t>Click to edit Master title style</a:t>
            </a:r>
          </a:p>
        </p:txBody>
      </p:sp>
      <p:sp>
        <p:nvSpPr>
          <p:cNvPr id="3" name="Content Placeholder 2"/>
          <p:cNvSpPr>
            <a:spLocks noGrp="1"/>
          </p:cNvSpPr>
          <p:nvPr>
            <p:ph type="body" idx="1"/>
          </p:nvPr>
        </p:nvSpPr>
        <p:spPr>
          <a:xfrm>
            <a:off x="228600" y="1295400"/>
            <a:ext cx="8763000" cy="4830763"/>
          </a:xfrm>
          <a:prstGeom prst="rect">
            <a:avLst/>
          </a:prstGeom>
        </p:spPr>
        <p:txBody>
          <a:bodyPr vert="horz" lIns="91440" tIns="45720" rIns="91440" bIns="45720" rtlCol="0">
            <a:normAutofit/>
          </a:bodyPr>
          <a:lstStyle/>
          <a:p>
            <a:pPr marL="461963" lvl="0" indent="-461963">
              <a:buSzPct val="100000"/>
            </a:pPr>
            <a:r>
              <a:rPr lang="en-US" dirty="0"/>
              <a:t>Click to edit Master text styles</a:t>
            </a:r>
          </a:p>
          <a:p>
            <a:pPr marL="914400" lvl="1" indent="-457200"/>
            <a:r>
              <a:rPr lang="en-US" dirty="0"/>
              <a:t>Second level</a:t>
            </a:r>
          </a:p>
          <a:p>
            <a:pPr marL="1376363" lvl="2" indent="-461963"/>
            <a:r>
              <a:rPr lang="en-US" dirty="0"/>
              <a:t>Third level</a:t>
            </a:r>
          </a:p>
          <a:p>
            <a:pPr lvl="3"/>
            <a:r>
              <a:rPr lang="en-US" dirty="0"/>
              <a:t>Fourth level</a:t>
            </a:r>
          </a:p>
          <a:p>
            <a:pPr lvl="4"/>
            <a:r>
              <a:rPr lang="en-US" dirty="0"/>
              <a:t>Fifth level</a:t>
            </a:r>
          </a:p>
        </p:txBody>
      </p:sp>
      <p:sp>
        <p:nvSpPr>
          <p:cNvPr id="7" name="Rectangle 6"/>
          <p:cNvSpPr/>
          <p:nvPr/>
        </p:nvSpPr>
        <p:spPr bwMode="white">
          <a:xfrm>
            <a:off x="0" y="0"/>
            <a:ext cx="9144000" cy="1133554"/>
          </a:xfrm>
          <a:prstGeom prst="rect">
            <a:avLst/>
          </a:prstGeom>
          <a:solidFill>
            <a:srgbClr val="812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3B7F"/>
              </a:solidFill>
            </a:endParaRPr>
          </a:p>
        </p:txBody>
      </p:sp>
      <p:sp>
        <p:nvSpPr>
          <p:cNvPr id="14" name="Rectangle 13"/>
          <p:cNvSpPr/>
          <p:nvPr/>
        </p:nvSpPr>
        <p:spPr bwMode="white">
          <a:xfrm>
            <a:off x="-7938" y="6248400"/>
            <a:ext cx="9161464" cy="629874"/>
          </a:xfrm>
          <a:prstGeom prst="rect">
            <a:avLst/>
          </a:prstGeom>
          <a:solidFill>
            <a:srgbClr val="812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203B7F"/>
              </a:solidFill>
            </a:endParaRPr>
          </a:p>
        </p:txBody>
      </p:sp>
      <p:sp>
        <p:nvSpPr>
          <p:cNvPr id="6" name="Content Placeholder 9"/>
          <p:cNvSpPr txBox="1">
            <a:spLocks/>
          </p:cNvSpPr>
          <p:nvPr userDrawn="1"/>
        </p:nvSpPr>
        <p:spPr>
          <a:xfrm>
            <a:off x="18250" y="6276552"/>
            <a:ext cx="9127998" cy="590126"/>
          </a:xfrm>
          <a:prstGeom prst="rect">
            <a:avLst/>
          </a:prstGeom>
          <a:solidFill>
            <a:srgbClr val="812A23"/>
          </a:solidFill>
        </p:spPr>
        <p:txBody>
          <a:bodyPr anchor="ctr"/>
          <a:lstStyle>
            <a:lvl1pPr marL="342900" indent="-342900" algn="l" defTabSz="914400" rtl="0" eaLnBrk="1" latinLnBrk="0" hangingPunct="1">
              <a:spcBef>
                <a:spcPct val="20000"/>
              </a:spcBef>
              <a:buClr>
                <a:srgbClr val="24549F"/>
              </a:buClr>
              <a:buFont typeface="Arial" pitchFamily="34" charset="0"/>
              <a:buChar char="•"/>
              <a:defRPr lang="en-US" sz="2600" kern="1200" dirty="0" smtClean="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24549F"/>
              </a:buClr>
              <a:buFont typeface="Arial" pitchFamily="34" charset="0"/>
              <a:buChar char="–"/>
              <a:defRPr lang="en-US" sz="2400" kern="1200" dirty="0" smtClean="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24549F"/>
              </a:buClr>
              <a:buFont typeface="Wingdings" pitchFamily="2" charset="2"/>
              <a:buChar char="§"/>
              <a:defRPr lang="en-US" sz="2200" kern="1200" dirty="0" smtClean="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24549F"/>
              </a:buClr>
              <a:buFont typeface="Courier New" pitchFamily="49" charset="0"/>
              <a:buChar char="o"/>
              <a:defRPr lang="en-US" sz="2000" kern="1200" dirty="0" smtClean="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24549F"/>
              </a:buClr>
              <a:buFont typeface="Arial" pitchFamily="34" charset="0"/>
              <a:buChar char="»"/>
              <a:defRPr lang="en-US" sz="2000" kern="1200" dirty="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624"/>
              </a:spcBef>
              <a:buFont typeface="Arial" pitchFamily="34" charset="0"/>
              <a:buNone/>
            </a:pPr>
            <a:r>
              <a:rPr lang="en-US" sz="1200" dirty="0">
                <a:solidFill>
                  <a:schemeClr val="bg1"/>
                </a:solidFill>
              </a:rPr>
              <a:t>© 2021 Worth Publishers. All Rights Reserved.</a:t>
            </a:r>
          </a:p>
        </p:txBody>
      </p:sp>
    </p:spTree>
    <p:extLst>
      <p:ext uri="{BB962C8B-B14F-4D97-AF65-F5344CB8AC3E}">
        <p14:creationId xmlns:p14="http://schemas.microsoft.com/office/powerpoint/2010/main" val="888811331"/>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80" r:id="rId3"/>
  </p:sldLayoutIdLst>
  <p:hf sldNum="0" hdr="0" dt="0"/>
  <p:txStyles>
    <p:titleStyle>
      <a:lvl1pPr algn="ctr" defTabSz="914400" rtl="0" eaLnBrk="1" latinLnBrk="0" hangingPunct="1">
        <a:spcBef>
          <a:spcPct val="0"/>
        </a:spcBef>
        <a:buNone/>
        <a:defRPr sz="36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812A23"/>
        </a:buClr>
        <a:buFont typeface="Arial" pitchFamily="34" charset="0"/>
        <a:buChar char="•"/>
        <a:defRPr lang="en-US" sz="2600" kern="1200" dirty="0" smtClean="0">
          <a:solidFill>
            <a:schemeClr val="tx1"/>
          </a:solidFill>
          <a:latin typeface="Arial" pitchFamily="34" charset="0"/>
          <a:ea typeface="Verdana" pitchFamily="34" charset="0"/>
          <a:cs typeface="Arial" pitchFamily="34" charset="0"/>
        </a:defRPr>
      </a:lvl1pPr>
      <a:lvl2pPr marL="742950" indent="-285750" algn="l" defTabSz="914400" rtl="0" eaLnBrk="1" latinLnBrk="0" hangingPunct="1">
        <a:spcBef>
          <a:spcPct val="20000"/>
        </a:spcBef>
        <a:buClr>
          <a:srgbClr val="812A23"/>
        </a:buClr>
        <a:buFont typeface="Arial" pitchFamily="34" charset="0"/>
        <a:buChar char="–"/>
        <a:defRPr lang="en-US" sz="2400" kern="1200" dirty="0" smtClean="0">
          <a:solidFill>
            <a:schemeClr val="tx1"/>
          </a:solidFill>
          <a:latin typeface="Arial" pitchFamily="34" charset="0"/>
          <a:ea typeface="Verdana" pitchFamily="34" charset="0"/>
          <a:cs typeface="Arial" pitchFamily="34" charset="0"/>
        </a:defRPr>
      </a:lvl2pPr>
      <a:lvl3pPr marL="1143000" indent="-228600" algn="l" defTabSz="914400" rtl="0" eaLnBrk="1" latinLnBrk="0" hangingPunct="1">
        <a:spcBef>
          <a:spcPct val="20000"/>
        </a:spcBef>
        <a:buClr>
          <a:srgbClr val="812A23"/>
        </a:buClr>
        <a:buFont typeface="Wingdings" pitchFamily="2" charset="2"/>
        <a:buChar char="§"/>
        <a:defRPr lang="en-US" sz="2200" kern="1200" dirty="0" smtClean="0">
          <a:solidFill>
            <a:schemeClr val="tx1"/>
          </a:solidFill>
          <a:latin typeface="Arial" pitchFamily="34" charset="0"/>
          <a:ea typeface="Verdana" pitchFamily="34" charset="0"/>
          <a:cs typeface="Arial" pitchFamily="34" charset="0"/>
        </a:defRPr>
      </a:lvl3pPr>
      <a:lvl4pPr marL="1600200" indent="-228600" algn="l" defTabSz="914400" rtl="0" eaLnBrk="1" latinLnBrk="0" hangingPunct="1">
        <a:spcBef>
          <a:spcPct val="20000"/>
        </a:spcBef>
        <a:buClr>
          <a:srgbClr val="812A23"/>
        </a:buClr>
        <a:buFont typeface="Courier New" pitchFamily="49" charset="0"/>
        <a:buChar char="o"/>
        <a:defRPr lang="en-US" sz="2000" kern="1200" dirty="0" smtClean="0">
          <a:solidFill>
            <a:schemeClr val="tx1"/>
          </a:solidFill>
          <a:latin typeface="Arial" pitchFamily="34" charset="0"/>
          <a:ea typeface="Verdana" pitchFamily="34" charset="0"/>
          <a:cs typeface="Arial" pitchFamily="34" charset="0"/>
        </a:defRPr>
      </a:lvl4pPr>
      <a:lvl5pPr marL="2057400" indent="-228600" algn="l" defTabSz="914400" rtl="0" eaLnBrk="1" latinLnBrk="0" hangingPunct="1">
        <a:spcBef>
          <a:spcPct val="20000"/>
        </a:spcBef>
        <a:buClr>
          <a:srgbClr val="812A23"/>
        </a:buClr>
        <a:buFont typeface="Arial" pitchFamily="34" charset="0"/>
        <a:buChar char="»"/>
        <a:defRPr lang="en-US" sz="2000" kern="1200" dirty="0">
          <a:solidFill>
            <a:schemeClr val="tx1"/>
          </a:solidFill>
          <a:latin typeface="Arial" pitchFamily="34" charset="0"/>
          <a:ea typeface="Verdana" pitchFamily="34" charset="0"/>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5" y="19050"/>
            <a:ext cx="9126855" cy="622828"/>
          </a:xfrm>
          <a:noFill/>
        </p:spPr>
        <p:txBody>
          <a:bodyPr anchor="ctr"/>
          <a:lstStyle/>
          <a:p>
            <a:pPr algn="l">
              <a:spcBef>
                <a:spcPts val="624"/>
              </a:spcBef>
            </a:pPr>
            <a:r>
              <a:rPr lang="en-US" dirty="0"/>
              <a:t>MODERN PRINCIPLES OF ECONOMICS</a:t>
            </a:r>
          </a:p>
        </p:txBody>
      </p:sp>
      <p:sp>
        <p:nvSpPr>
          <p:cNvPr id="7" name="Text Placeholder 6"/>
          <p:cNvSpPr>
            <a:spLocks noGrp="1"/>
          </p:cNvSpPr>
          <p:nvPr>
            <p:ph type="body" sz="quarter" idx="13"/>
          </p:nvPr>
        </p:nvSpPr>
        <p:spPr>
          <a:xfrm>
            <a:off x="0" y="683493"/>
            <a:ext cx="8229600" cy="600564"/>
          </a:xfrm>
        </p:spPr>
        <p:txBody>
          <a:bodyPr/>
          <a:lstStyle/>
          <a:p>
            <a:r>
              <a:rPr lang="en-US" sz="3600" dirty="0"/>
              <a:t>Fifth Edition</a:t>
            </a:r>
          </a:p>
        </p:txBody>
      </p:sp>
      <p:pic>
        <p:nvPicPr>
          <p:cNvPr id="9" name="Picture Placeholder 11" descr="Book cover reads title, edition number, and name of the authors as follows: &quot;MODERN PRINCIPLES OF ECONOMICS,&quot; “Fifth Edition,&quot; and &quot;Tyler Cowen and Alex Tabarrok.&quot; An image on the front cover shows five hands holding a globe."/>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033" y="1442241"/>
            <a:ext cx="3713482" cy="4750826"/>
          </a:xfrm>
          <a:prstGeom prst="rect">
            <a:avLst/>
          </a:prstGeom>
        </p:spPr>
      </p:pic>
      <p:sp>
        <p:nvSpPr>
          <p:cNvPr id="8" name="Sub Title 2"/>
          <p:cNvSpPr>
            <a:spLocks noGrp="1"/>
          </p:cNvSpPr>
          <p:nvPr>
            <p:ph type="body" sz="quarter" idx="14"/>
          </p:nvPr>
        </p:nvSpPr>
        <p:spPr>
          <a:xfrm>
            <a:off x="4193435" y="2320271"/>
            <a:ext cx="4651451" cy="2979458"/>
          </a:xfrm>
        </p:spPr>
        <p:txBody>
          <a:bodyPr anchor="ctr"/>
          <a:lstStyle/>
          <a:p>
            <a:pPr algn="ctr"/>
            <a:r>
              <a:rPr lang="en-US" b="1" dirty="0"/>
              <a:t>Chapter 19</a:t>
            </a:r>
            <a:br>
              <a:rPr lang="en-US" b="1" dirty="0"/>
            </a:br>
            <a:r>
              <a:rPr lang="en-US" sz="3600" dirty="0"/>
              <a:t>Public Goods and </a:t>
            </a:r>
            <a:r>
              <a:rPr lang="en-US" sz="3600"/>
              <a:t>the Tragedy </a:t>
            </a:r>
            <a:r>
              <a:rPr lang="en-US" sz="3600" dirty="0"/>
              <a:t>of the Commons</a:t>
            </a:r>
          </a:p>
        </p:txBody>
      </p:sp>
      <p:sp>
        <p:nvSpPr>
          <p:cNvPr id="10" name="Content Placeholder 9"/>
          <p:cNvSpPr>
            <a:spLocks noGrp="1"/>
          </p:cNvSpPr>
          <p:nvPr>
            <p:ph sz="quarter" idx="16"/>
          </p:nvPr>
        </p:nvSpPr>
        <p:spPr>
          <a:xfrm>
            <a:off x="18250" y="6276552"/>
            <a:ext cx="9127998" cy="590126"/>
          </a:xfrm>
          <a:noFill/>
        </p:spPr>
        <p:txBody>
          <a:bodyPr anchor="ctr"/>
          <a:lstStyle/>
          <a:p>
            <a:pPr marL="0" lvl="0" indent="0">
              <a:spcBef>
                <a:spcPts val="624"/>
              </a:spcBef>
              <a:buNone/>
            </a:pPr>
            <a:r>
              <a:rPr lang="en-US" sz="1200" dirty="0"/>
              <a:t>© 2021 Worth Publishers. All Rights Reserved.</a:t>
            </a:r>
          </a:p>
        </p:txBody>
      </p:sp>
    </p:spTree>
    <p:extLst>
      <p:ext uri="{BB962C8B-B14F-4D97-AF65-F5344CB8AC3E}">
        <p14:creationId xmlns:p14="http://schemas.microsoft.com/office/powerpoint/2010/main" val="31701973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Outline</a:t>
            </a:r>
          </a:p>
        </p:txBody>
      </p:sp>
      <p:sp>
        <p:nvSpPr>
          <p:cNvPr id="5" name="Content Placeholder 4"/>
          <p:cNvSpPr>
            <a:spLocks noGrp="1"/>
          </p:cNvSpPr>
          <p:nvPr>
            <p:ph idx="1"/>
          </p:nvPr>
        </p:nvSpPr>
        <p:spPr/>
        <p:txBody>
          <a:bodyPr>
            <a:normAutofit/>
          </a:bodyPr>
          <a:lstStyle/>
          <a:p>
            <a:pPr>
              <a:spcAft>
                <a:spcPts val="1800"/>
              </a:spcAft>
            </a:pPr>
            <a:r>
              <a:rPr lang="en-US" dirty="0"/>
              <a:t>Four Types of Goods</a:t>
            </a:r>
          </a:p>
          <a:p>
            <a:pPr>
              <a:spcAft>
                <a:spcPts val="1800"/>
              </a:spcAft>
            </a:pPr>
            <a:r>
              <a:rPr lang="en-US" dirty="0"/>
              <a:t>Private Goods and Public Goods</a:t>
            </a:r>
          </a:p>
          <a:p>
            <a:pPr>
              <a:spcAft>
                <a:spcPts val="1800"/>
              </a:spcAft>
            </a:pPr>
            <a:r>
              <a:rPr lang="en-US" dirty="0"/>
              <a:t>Club Goods</a:t>
            </a:r>
          </a:p>
          <a:p>
            <a:pPr>
              <a:spcAft>
                <a:spcPts val="1800"/>
              </a:spcAft>
            </a:pPr>
            <a:r>
              <a:rPr lang="en-US" dirty="0"/>
              <a:t>Common Resources and the Tragedy of the Commons</a:t>
            </a:r>
          </a:p>
          <a:p>
            <a:pPr>
              <a:spcAft>
                <a:spcPts val="1800"/>
              </a:spcAft>
            </a:pPr>
            <a:r>
              <a:rPr lang="en-US" dirty="0"/>
              <a:t>Takeaway</a:t>
            </a:r>
          </a:p>
        </p:txBody>
      </p:sp>
    </p:spTree>
    <p:extLst>
      <p:ext uri="{BB962C8B-B14F-4D97-AF65-F5344CB8AC3E}">
        <p14:creationId xmlns:p14="http://schemas.microsoft.com/office/powerpoint/2010/main" val="2737097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(1 of 2)</a:t>
            </a:r>
          </a:p>
        </p:txBody>
      </p:sp>
      <p:sp>
        <p:nvSpPr>
          <p:cNvPr id="3" name="Content Placeholder 2"/>
          <p:cNvSpPr>
            <a:spLocks noGrp="1"/>
          </p:cNvSpPr>
          <p:nvPr>
            <p:ph idx="1"/>
          </p:nvPr>
        </p:nvSpPr>
        <p:spPr/>
        <p:txBody>
          <a:bodyPr>
            <a:normAutofit/>
          </a:bodyPr>
          <a:lstStyle/>
          <a:p>
            <a:pPr>
              <a:spcAft>
                <a:spcPts val="1800"/>
              </a:spcAft>
            </a:pPr>
            <a:r>
              <a:rPr lang="en-US" dirty="0"/>
              <a:t>Approximately 60 million years ago, asteroid Chicxulub smashed into the earth off the coast of modern-day Mexico, killing 99.9999% of all living organisms.</a:t>
            </a:r>
          </a:p>
          <a:p>
            <a:pPr>
              <a:spcAft>
                <a:spcPts val="1800"/>
              </a:spcAft>
            </a:pPr>
            <a:r>
              <a:rPr lang="en-US" dirty="0"/>
              <a:t>Markets provide all kinds of goods like food, clothing, and cell phones.</a:t>
            </a:r>
          </a:p>
          <a:p>
            <a:pPr>
              <a:spcAft>
                <a:spcPts val="1800"/>
              </a:spcAft>
            </a:pPr>
            <a:r>
              <a:rPr lang="en-US" dirty="0"/>
              <a:t>Even if everyone were convinced of the benefits of deflecting asteroids, the market will probably never provide asteroid deflection.</a:t>
            </a:r>
          </a:p>
        </p:txBody>
      </p:sp>
    </p:spTree>
    <p:extLst>
      <p:ext uri="{BB962C8B-B14F-4D97-AF65-F5344CB8AC3E}">
        <p14:creationId xmlns:p14="http://schemas.microsoft.com/office/powerpoint/2010/main" val="39665540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(1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Nonexcludable:</a:t>
            </a:r>
          </a:p>
          <a:p>
            <a:pPr marL="0" indent="0">
              <a:buNone/>
            </a:pPr>
            <a:r>
              <a:rPr lang="en-US" i="1" dirty="0"/>
              <a:t>A good is nonexcludable if people who don’t pay cannot be easily prevented from using the good.</a:t>
            </a:r>
          </a:p>
        </p:txBody>
      </p:sp>
    </p:spTree>
    <p:extLst>
      <p:ext uri="{BB962C8B-B14F-4D97-AF65-F5344CB8AC3E}">
        <p14:creationId xmlns:p14="http://schemas.microsoft.com/office/powerpoint/2010/main" val="17199754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(2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Nonrival:</a:t>
            </a:r>
          </a:p>
          <a:p>
            <a:pPr marL="0" indent="0">
              <a:spcAft>
                <a:spcPts val="600"/>
              </a:spcAft>
              <a:buNone/>
            </a:pPr>
            <a:r>
              <a:rPr lang="en-US" i="1" dirty="0"/>
              <a:t>A good is nonrival if one person’s use of the good does not reduce the ability of another person to use the same good.</a:t>
            </a:r>
          </a:p>
        </p:txBody>
      </p:sp>
    </p:spTree>
    <p:extLst>
      <p:ext uri="{BB962C8B-B14F-4D97-AF65-F5344CB8AC3E}">
        <p14:creationId xmlns:p14="http://schemas.microsoft.com/office/powerpoint/2010/main" val="1829647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(2 of 2)</a:t>
            </a:r>
          </a:p>
        </p:txBody>
      </p:sp>
      <p:sp>
        <p:nvSpPr>
          <p:cNvPr id="3" name="Content Placeholder 2"/>
          <p:cNvSpPr>
            <a:spLocks noGrp="1"/>
          </p:cNvSpPr>
          <p:nvPr>
            <p:ph idx="1"/>
          </p:nvPr>
        </p:nvSpPr>
        <p:spPr/>
        <p:txBody>
          <a:bodyPr>
            <a:normAutofit/>
          </a:bodyPr>
          <a:lstStyle/>
          <a:p>
            <a:pPr>
              <a:spcAft>
                <a:spcPts val="1800"/>
              </a:spcAft>
            </a:pPr>
            <a:r>
              <a:rPr lang="en-US" dirty="0"/>
              <a:t>Asteroid deflection is a </a:t>
            </a:r>
            <a:r>
              <a:rPr lang="en-US" i="1" dirty="0"/>
              <a:t>public good:</a:t>
            </a:r>
          </a:p>
          <a:p>
            <a:pPr lvl="1"/>
            <a:r>
              <a:rPr lang="en-US" dirty="0"/>
              <a:t>Nonexcludable: Nonpayers can’t be excluded from enjoying the benefits.</a:t>
            </a:r>
          </a:p>
          <a:p>
            <a:pPr lvl="1">
              <a:spcAft>
                <a:spcPts val="1800"/>
              </a:spcAft>
            </a:pPr>
            <a:r>
              <a:rPr lang="en-US" dirty="0"/>
              <a:t>Nonrival: Many people can enjoy the benefits of the same asteroid deflection.</a:t>
            </a:r>
          </a:p>
          <a:p>
            <a:pPr>
              <a:spcAft>
                <a:spcPts val="1800"/>
              </a:spcAft>
            </a:pPr>
            <a:r>
              <a:rPr lang="en-US" dirty="0"/>
              <a:t>A pair of jeans is an example of a </a:t>
            </a:r>
            <a:r>
              <a:rPr lang="en-US" i="1" dirty="0"/>
              <a:t>private good:</a:t>
            </a:r>
            <a:endParaRPr lang="en-US" b="1" i="1" dirty="0"/>
          </a:p>
          <a:p>
            <a:pPr lvl="1"/>
            <a:r>
              <a:rPr lang="en-US" dirty="0"/>
              <a:t>Nonpayers can be excluded from consuming them. </a:t>
            </a:r>
          </a:p>
          <a:p>
            <a:pPr lvl="1"/>
            <a:r>
              <a:rPr lang="en-US" dirty="0"/>
              <a:t>Only one person can wear them at a time.</a:t>
            </a:r>
          </a:p>
        </p:txBody>
      </p:sp>
    </p:spTree>
    <p:extLst>
      <p:ext uri="{BB962C8B-B14F-4D97-AF65-F5344CB8AC3E}">
        <p14:creationId xmlns:p14="http://schemas.microsoft.com/office/powerpoint/2010/main" val="423520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Four Types of Goods</a:t>
            </a:r>
          </a:p>
        </p:txBody>
      </p:sp>
      <p:graphicFrame>
        <p:nvGraphicFramePr>
          <p:cNvPr id="9" name="Table Placeholder 8"/>
          <p:cNvGraphicFramePr>
            <a:graphicFrameLocks noGrp="1"/>
          </p:cNvGraphicFramePr>
          <p:nvPr>
            <p:ph type="tbl" sz="quarter" idx="12"/>
            <p:extLst>
              <p:ext uri="{D42A27DB-BD31-4B8C-83A1-F6EECF244321}">
                <p14:modId xmlns:p14="http://schemas.microsoft.com/office/powerpoint/2010/main" val="3201101060"/>
              </p:ext>
            </p:extLst>
          </p:nvPr>
        </p:nvGraphicFramePr>
        <p:xfrm>
          <a:off x="514350" y="2269909"/>
          <a:ext cx="7962899" cy="2758440"/>
        </p:xfrm>
        <a:graphic>
          <a:graphicData uri="http://schemas.openxmlformats.org/drawingml/2006/table">
            <a:tbl>
              <a:tblPr firstRow="1" bandRow="1">
                <a:tableStyleId>{18603FDC-E32A-4AB5-989C-0864C3EAD2B8}</a:tableStyleId>
              </a:tblPr>
              <a:tblGrid>
                <a:gridCol w="260985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914649">
                  <a:extLst>
                    <a:ext uri="{9D8B030D-6E8A-4147-A177-3AD203B41FA5}">
                      <a16:colId xmlns:a16="http://schemas.microsoft.com/office/drawing/2014/main" val="20002"/>
                    </a:ext>
                  </a:extLst>
                </a:gridCol>
              </a:tblGrid>
              <a:tr h="0">
                <a:tc>
                  <a:txBody>
                    <a:bodyPr/>
                    <a:lstStyle/>
                    <a:p>
                      <a:pPr algn="ctr"/>
                      <a:endParaRPr lang="en-US" sz="1800" b="1" dirty="0">
                        <a:latin typeface="Arial" pitchFamily="34" charset="0"/>
                        <a:cs typeface="Arial" pitchFamily="34" charset="0"/>
                      </a:endParaRPr>
                    </a:p>
                  </a:txBody>
                  <a:tcPr/>
                </a:tc>
                <a:tc>
                  <a:txBody>
                    <a:bodyPr/>
                    <a:lstStyle/>
                    <a:p>
                      <a:pPr algn="ctr"/>
                      <a:r>
                        <a:rPr lang="en-US" sz="1800" u="none" strike="noStrike" kern="1200" baseline="0" dirty="0"/>
                        <a:t>Excludable</a:t>
                      </a:r>
                      <a:endParaRPr lang="en-US" sz="1800" b="1" dirty="0">
                        <a:latin typeface="Arial" pitchFamily="34" charset="0"/>
                        <a:cs typeface="Arial" pitchFamily="34" charset="0"/>
                      </a:endParaRPr>
                    </a:p>
                  </a:txBody>
                  <a:tcPr/>
                </a:tc>
                <a:tc>
                  <a:txBody>
                    <a:bodyPr/>
                    <a:lstStyle/>
                    <a:p>
                      <a:pPr algn="ctr"/>
                      <a:r>
                        <a:rPr lang="en-US" sz="1800" u="none" strike="noStrike" kern="1200" baseline="0" dirty="0"/>
                        <a:t>Nonexcludable</a:t>
                      </a:r>
                      <a:endParaRPr lang="en-US" sz="1800" b="1" dirty="0">
                        <a:latin typeface="Arial" pitchFamily="34" charset="0"/>
                        <a:cs typeface="Arial" pitchFamily="34" charset="0"/>
                      </a:endParaRPr>
                    </a:p>
                  </a:txBody>
                  <a:tcPr/>
                </a:tc>
                <a:extLst>
                  <a:ext uri="{0D108BD9-81ED-4DB2-BD59-A6C34878D82A}">
                    <a16:rowId xmlns:a16="http://schemas.microsoft.com/office/drawing/2014/main" val="10000"/>
                  </a:ext>
                </a:extLst>
              </a:tr>
              <a:tr h="1196340">
                <a:tc>
                  <a:txBody>
                    <a:bodyPr/>
                    <a:lstStyle/>
                    <a:p>
                      <a:r>
                        <a:rPr lang="en-US" sz="1800" u="none" strike="noStrike" kern="1200" baseline="0" dirty="0"/>
                        <a:t>Rival</a:t>
                      </a:r>
                      <a:endParaRPr lang="en-US" sz="1800" b="1" dirty="0">
                        <a:latin typeface="Arial" pitchFamily="34" charset="0"/>
                        <a:cs typeface="Arial" pitchFamily="34" charset="0"/>
                      </a:endParaRPr>
                    </a:p>
                  </a:txBody>
                  <a:tcPr/>
                </a:tc>
                <a:tc>
                  <a:txBody>
                    <a:bodyPr/>
                    <a:lstStyle/>
                    <a:p>
                      <a:pPr algn="ctr"/>
                      <a:r>
                        <a:rPr lang="en-US" sz="1800" u="sng" strike="noStrike" kern="1200" baseline="0" dirty="0"/>
                        <a:t>Private Goods</a:t>
                      </a:r>
                    </a:p>
                    <a:p>
                      <a:pPr algn="ctr"/>
                      <a:r>
                        <a:rPr lang="en-US" sz="1800" u="none" strike="noStrike" kern="1200" baseline="0" dirty="0"/>
                        <a:t>Jeans</a:t>
                      </a:r>
                    </a:p>
                    <a:p>
                      <a:pPr algn="ctr"/>
                      <a:r>
                        <a:rPr lang="en-US" sz="1800" u="none" strike="noStrike" kern="1200" baseline="0" dirty="0"/>
                        <a:t>Hamburgers</a:t>
                      </a:r>
                    </a:p>
                    <a:p>
                      <a:pPr algn="ctr"/>
                      <a:r>
                        <a:rPr lang="en-US" sz="1800" u="none" strike="noStrike" kern="1200" baseline="0" dirty="0"/>
                        <a:t>Contact lenses</a:t>
                      </a:r>
                      <a:endParaRPr lang="en-US" sz="1800" dirty="0">
                        <a:latin typeface="Arial" pitchFamily="34" charset="0"/>
                        <a:cs typeface="Arial" pitchFamily="34" charset="0"/>
                      </a:endParaRPr>
                    </a:p>
                  </a:txBody>
                  <a:tcPr/>
                </a:tc>
                <a:tc>
                  <a:txBody>
                    <a:bodyPr/>
                    <a:lstStyle/>
                    <a:p>
                      <a:pPr algn="ctr"/>
                      <a:r>
                        <a:rPr lang="en-US" sz="1800" u="sng" strike="noStrike" kern="1200" baseline="0" dirty="0"/>
                        <a:t>Common Resources</a:t>
                      </a:r>
                    </a:p>
                    <a:p>
                      <a:pPr algn="ctr"/>
                      <a:r>
                        <a:rPr lang="en-US" sz="1800" u="none" strike="noStrike" kern="1200" baseline="0" dirty="0"/>
                        <a:t>Tuna in the ocean</a:t>
                      </a:r>
                    </a:p>
                    <a:p>
                      <a:pPr algn="ctr"/>
                      <a:r>
                        <a:rPr lang="en-US" sz="1800" u="none" strike="noStrike" kern="1200" baseline="0" dirty="0"/>
                        <a:t>The environment</a:t>
                      </a:r>
                    </a:p>
                    <a:p>
                      <a:pPr algn="ctr"/>
                      <a:r>
                        <a:rPr lang="en-US" sz="1800" u="none" strike="noStrike" kern="1200" baseline="0" dirty="0"/>
                        <a:t>Public roads</a:t>
                      </a:r>
                      <a:endParaRPr lang="en-US" sz="1800" dirty="0">
                        <a:latin typeface="Arial" pitchFamily="34" charset="0"/>
                        <a:cs typeface="Arial" pitchFamily="34" charset="0"/>
                      </a:endParaRPr>
                    </a:p>
                  </a:txBody>
                  <a:tcPr/>
                </a:tc>
                <a:extLst>
                  <a:ext uri="{0D108BD9-81ED-4DB2-BD59-A6C34878D82A}">
                    <a16:rowId xmlns:a16="http://schemas.microsoft.com/office/drawing/2014/main" val="10001"/>
                  </a:ext>
                </a:extLst>
              </a:tr>
              <a:tr h="1196340">
                <a:tc>
                  <a:txBody>
                    <a:bodyPr/>
                    <a:lstStyle/>
                    <a:p>
                      <a:r>
                        <a:rPr lang="en-US" sz="1800" u="none" strike="noStrike" kern="1200" baseline="0" dirty="0"/>
                        <a:t>Nonrival</a:t>
                      </a:r>
                      <a:endParaRPr lang="en-US" sz="1800" b="1" dirty="0">
                        <a:latin typeface="Arial" pitchFamily="34" charset="0"/>
                        <a:cs typeface="Arial" pitchFamily="34" charset="0"/>
                      </a:endParaRPr>
                    </a:p>
                  </a:txBody>
                  <a:tcPr/>
                </a:tc>
                <a:tc>
                  <a:txBody>
                    <a:bodyPr/>
                    <a:lstStyle/>
                    <a:p>
                      <a:pPr algn="ctr"/>
                      <a:r>
                        <a:rPr lang="en-US" sz="1800" u="sng" strike="noStrike" kern="1200" baseline="0" dirty="0"/>
                        <a:t>Club Goods</a:t>
                      </a:r>
                    </a:p>
                    <a:p>
                      <a:pPr algn="ctr"/>
                      <a:r>
                        <a:rPr lang="en-US" sz="1800" u="none" strike="noStrike" kern="1200" baseline="0" dirty="0"/>
                        <a:t>Cable TV</a:t>
                      </a:r>
                    </a:p>
                    <a:p>
                      <a:pPr algn="ctr"/>
                      <a:r>
                        <a:rPr lang="en-US" sz="1800" u="none" strike="noStrike" kern="1200" baseline="0" dirty="0"/>
                        <a:t>Wi-Fi</a:t>
                      </a:r>
                    </a:p>
                    <a:p>
                      <a:pPr algn="ctr"/>
                      <a:r>
                        <a:rPr lang="en-US" sz="1800" u="none" strike="noStrike" kern="1200" baseline="0" dirty="0"/>
                        <a:t>Digital music</a:t>
                      </a:r>
                      <a:endParaRPr lang="en-US" sz="1800" dirty="0">
                        <a:latin typeface="Arial" pitchFamily="34" charset="0"/>
                        <a:cs typeface="Arial" pitchFamily="34" charset="0"/>
                      </a:endParaRPr>
                    </a:p>
                  </a:txBody>
                  <a:tcPr/>
                </a:tc>
                <a:tc>
                  <a:txBody>
                    <a:bodyPr/>
                    <a:lstStyle/>
                    <a:p>
                      <a:pPr algn="ctr"/>
                      <a:r>
                        <a:rPr lang="en-US" sz="1800" u="sng" strike="noStrike" kern="1200" baseline="0" dirty="0"/>
                        <a:t>Public Goods</a:t>
                      </a:r>
                    </a:p>
                    <a:p>
                      <a:pPr algn="ctr"/>
                      <a:r>
                        <a:rPr lang="en-US" sz="1800" u="none" strike="noStrike" kern="1200" baseline="0" dirty="0"/>
                        <a:t>Asteroid deflection</a:t>
                      </a:r>
                    </a:p>
                    <a:p>
                      <a:pPr algn="ctr"/>
                      <a:r>
                        <a:rPr lang="en-US" sz="1800" u="none" strike="noStrike" kern="1200" baseline="0" dirty="0"/>
                        <a:t>National defense</a:t>
                      </a:r>
                    </a:p>
                    <a:p>
                      <a:pPr algn="ctr"/>
                      <a:r>
                        <a:rPr lang="en-US" sz="1800" u="none" strike="noStrike" kern="1200" baseline="0" dirty="0"/>
                        <a:t>Mosquito control</a:t>
                      </a:r>
                      <a:endParaRPr lang="en-US" sz="1800" dirty="0">
                        <a:latin typeface="Arial" pitchFamily="34" charset="0"/>
                        <a:cs typeface="Arial" pitchFamily="34"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949982784"/>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(3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Private goods:</a:t>
            </a:r>
          </a:p>
          <a:p>
            <a:pPr marL="0" indent="0">
              <a:spcAft>
                <a:spcPts val="1800"/>
              </a:spcAft>
              <a:buNone/>
            </a:pPr>
            <a:r>
              <a:rPr lang="en-US" i="1" dirty="0"/>
              <a:t>Are excludable and rival.</a:t>
            </a:r>
            <a:endParaRPr lang="en-US" b="1" dirty="0"/>
          </a:p>
          <a:p>
            <a:pPr marL="0" indent="0">
              <a:spcAft>
                <a:spcPts val="600"/>
              </a:spcAft>
              <a:buFont typeface="Wingdings" pitchFamily="2" charset="2"/>
              <a:buNone/>
            </a:pPr>
            <a:r>
              <a:rPr lang="en-US" b="1" dirty="0"/>
              <a:t>Public goods:</a:t>
            </a:r>
          </a:p>
          <a:p>
            <a:pPr marL="0" indent="0">
              <a:buFont typeface="Wingdings" pitchFamily="2" charset="2"/>
              <a:buNone/>
            </a:pPr>
            <a:r>
              <a:rPr lang="en-US" i="1" dirty="0"/>
              <a:t>Are nonexcludable and nonrival.</a:t>
            </a:r>
          </a:p>
        </p:txBody>
      </p:sp>
    </p:spTree>
    <p:extLst>
      <p:ext uri="{BB962C8B-B14F-4D97-AF65-F5344CB8AC3E}">
        <p14:creationId xmlns:p14="http://schemas.microsoft.com/office/powerpoint/2010/main" val="3621708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Self-Check (1 of 3)</a:t>
            </a:r>
          </a:p>
        </p:txBody>
      </p:sp>
      <p:sp>
        <p:nvSpPr>
          <p:cNvPr id="3" name="Content Placeholder 2"/>
          <p:cNvSpPr>
            <a:spLocks noGrp="1"/>
          </p:cNvSpPr>
          <p:nvPr>
            <p:ph idx="1"/>
          </p:nvPr>
        </p:nvSpPr>
        <p:spPr/>
        <p:txBody>
          <a:bodyPr>
            <a:normAutofit/>
          </a:bodyPr>
          <a:lstStyle/>
          <a:p>
            <a:pPr marL="0" indent="0">
              <a:spcAft>
                <a:spcPts val="1200"/>
              </a:spcAft>
              <a:buNone/>
            </a:pPr>
            <a:r>
              <a:rPr lang="en-US" dirty="0"/>
              <a:t>A fireworks display is an example of a:</a:t>
            </a:r>
          </a:p>
          <a:p>
            <a:pPr marL="514350" indent="-514350">
              <a:spcAft>
                <a:spcPts val="1200"/>
              </a:spcAft>
              <a:buAutoNum type="alphaLcPeriod"/>
            </a:pPr>
            <a:r>
              <a:rPr lang="en-US" dirty="0"/>
              <a:t>public good.</a:t>
            </a:r>
          </a:p>
          <a:p>
            <a:pPr marL="514350" indent="-514350">
              <a:spcAft>
                <a:spcPts val="1200"/>
              </a:spcAft>
              <a:buAutoNum type="alphaLcPeriod"/>
            </a:pPr>
            <a:r>
              <a:rPr lang="en-US" dirty="0"/>
              <a:t>private good.</a:t>
            </a:r>
          </a:p>
          <a:p>
            <a:pPr marL="514350" indent="-514350">
              <a:spcAft>
                <a:spcPts val="1200"/>
              </a:spcAft>
              <a:buAutoNum type="alphaLcPeriod"/>
            </a:pPr>
            <a:r>
              <a:rPr lang="en-US" dirty="0"/>
              <a:t>common resource.</a:t>
            </a:r>
          </a:p>
        </p:txBody>
      </p:sp>
    </p:spTree>
    <p:extLst>
      <p:ext uri="{BB962C8B-B14F-4D97-AF65-F5344CB8AC3E}">
        <p14:creationId xmlns:p14="http://schemas.microsoft.com/office/powerpoint/2010/main" val="32333503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Self-Check (1 of 3) (Answer)</a:t>
            </a:r>
          </a:p>
        </p:txBody>
      </p:sp>
      <p:sp>
        <p:nvSpPr>
          <p:cNvPr id="3" name="Content Placeholder 2"/>
          <p:cNvSpPr>
            <a:spLocks noGrp="1"/>
          </p:cNvSpPr>
          <p:nvPr>
            <p:ph idx="1"/>
          </p:nvPr>
        </p:nvSpPr>
        <p:spPr/>
        <p:txBody>
          <a:bodyPr>
            <a:normAutofit/>
          </a:bodyPr>
          <a:lstStyle/>
          <a:p>
            <a:pPr marL="0" indent="0">
              <a:spcAft>
                <a:spcPts val="1200"/>
              </a:spcAft>
              <a:buNone/>
            </a:pPr>
            <a:r>
              <a:rPr lang="en-US" dirty="0"/>
              <a:t>A fireworks display is an example of a:</a:t>
            </a:r>
          </a:p>
          <a:p>
            <a:pPr marL="514350" indent="-514350">
              <a:spcAft>
                <a:spcPts val="1200"/>
              </a:spcAft>
              <a:buAutoNum type="alphaLcPeriod"/>
            </a:pPr>
            <a:r>
              <a:rPr lang="en-US" dirty="0"/>
              <a:t>public good.</a:t>
            </a:r>
          </a:p>
          <a:p>
            <a:pPr marL="514350" indent="-514350">
              <a:spcAft>
                <a:spcPts val="1200"/>
              </a:spcAft>
              <a:buAutoNum type="alphaLcPeriod"/>
            </a:pPr>
            <a:r>
              <a:rPr lang="en-US" dirty="0"/>
              <a:t>private good.</a:t>
            </a:r>
          </a:p>
          <a:p>
            <a:pPr marL="514350" indent="-514350">
              <a:spcAft>
                <a:spcPts val="1800"/>
              </a:spcAft>
              <a:buAutoNum type="alphaLcPeriod"/>
            </a:pPr>
            <a:r>
              <a:rPr lang="en-US" dirty="0"/>
              <a:t>common resource.</a:t>
            </a:r>
          </a:p>
          <a:p>
            <a:pPr marL="0" indent="0">
              <a:spcAft>
                <a:spcPts val="1200"/>
              </a:spcAft>
              <a:buNone/>
            </a:pPr>
            <a:r>
              <a:rPr lang="en-US" b="1" dirty="0"/>
              <a:t>Answer: </a:t>
            </a:r>
          </a:p>
          <a:p>
            <a:pPr marL="514350" indent="-514350">
              <a:spcAft>
                <a:spcPts val="1200"/>
              </a:spcAft>
              <a:buFont typeface="+mj-lt"/>
              <a:buAutoNum type="alphaLcPeriod"/>
            </a:pPr>
            <a:r>
              <a:rPr lang="en-US" dirty="0"/>
              <a:t>A</a:t>
            </a:r>
            <a:r>
              <a:rPr lang="en-US" i="1" dirty="0"/>
              <a:t> </a:t>
            </a:r>
            <a:r>
              <a:rPr lang="en-US" dirty="0"/>
              <a:t>fireworks display is a public good because it is both nonrival and nonexcludable</a:t>
            </a:r>
            <a:r>
              <a:rPr lang="en-US" i="1" dirty="0"/>
              <a:t>.</a:t>
            </a:r>
            <a:endParaRPr lang="en-US" b="1" dirty="0"/>
          </a:p>
        </p:txBody>
      </p:sp>
    </p:spTree>
    <p:extLst>
      <p:ext uri="{BB962C8B-B14F-4D97-AF65-F5344CB8AC3E}">
        <p14:creationId xmlns:p14="http://schemas.microsoft.com/office/powerpoint/2010/main" val="4903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Goods and Public Goods (1 of 5)</a:t>
            </a:r>
          </a:p>
        </p:txBody>
      </p:sp>
      <p:sp>
        <p:nvSpPr>
          <p:cNvPr id="3" name="Content Placeholder 2"/>
          <p:cNvSpPr>
            <a:spLocks noGrp="1"/>
          </p:cNvSpPr>
          <p:nvPr>
            <p:ph idx="1"/>
          </p:nvPr>
        </p:nvSpPr>
        <p:spPr/>
        <p:txBody>
          <a:bodyPr>
            <a:normAutofit/>
          </a:bodyPr>
          <a:lstStyle/>
          <a:p>
            <a:pPr>
              <a:spcAft>
                <a:spcPts val="1800"/>
              </a:spcAft>
            </a:pPr>
            <a:r>
              <a:rPr lang="en-US" dirty="0"/>
              <a:t>Since </a:t>
            </a:r>
            <a:r>
              <a:rPr lang="en-US" i="1" dirty="0"/>
              <a:t>private goods </a:t>
            </a:r>
            <a:r>
              <a:rPr lang="en-US" dirty="0"/>
              <a:t>are excludable, there is an incentive to pay for, and thus to produce, them.</a:t>
            </a:r>
          </a:p>
          <a:p>
            <a:pPr>
              <a:spcAft>
                <a:spcPts val="1800"/>
              </a:spcAft>
            </a:pPr>
            <a:r>
              <a:rPr lang="en-US" dirty="0"/>
              <a:t>Private goods can therefore be provided by the market. </a:t>
            </a:r>
          </a:p>
          <a:p>
            <a:pPr>
              <a:spcAft>
                <a:spcPts val="1800"/>
              </a:spcAft>
            </a:pPr>
            <a:r>
              <a:rPr lang="en-US" dirty="0"/>
              <a:t>Excludability doesn’t result in inefficiency.</a:t>
            </a:r>
          </a:p>
          <a:p>
            <a:pPr>
              <a:spcAft>
                <a:spcPts val="1800"/>
              </a:spcAft>
            </a:pPr>
            <a:r>
              <a:rPr lang="en-US" dirty="0"/>
              <a:t>The only people who will be excluded from consuming a private good are the people who are not willing or able to pay what it costs to produce it.</a:t>
            </a:r>
          </a:p>
        </p:txBody>
      </p:sp>
    </p:spTree>
    <p:extLst>
      <p:ext uri="{BB962C8B-B14F-4D97-AF65-F5344CB8AC3E}">
        <p14:creationId xmlns:p14="http://schemas.microsoft.com/office/powerpoint/2010/main" val="2223054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Goods and Public Goods (2 of 5)</a:t>
            </a:r>
          </a:p>
        </p:txBody>
      </p:sp>
      <p:sp>
        <p:nvSpPr>
          <p:cNvPr id="3" name="Content Placeholder 2"/>
          <p:cNvSpPr>
            <a:spLocks noGrp="1"/>
          </p:cNvSpPr>
          <p:nvPr>
            <p:ph idx="1"/>
          </p:nvPr>
        </p:nvSpPr>
        <p:spPr/>
        <p:txBody>
          <a:bodyPr>
            <a:normAutofit/>
          </a:bodyPr>
          <a:lstStyle/>
          <a:p>
            <a:pPr>
              <a:spcAft>
                <a:spcPts val="1800"/>
              </a:spcAft>
            </a:pPr>
            <a:r>
              <a:rPr lang="en-US" dirty="0"/>
              <a:t>Since </a:t>
            </a:r>
            <a:r>
              <a:rPr lang="en-US" i="1" dirty="0"/>
              <a:t>public goods </a:t>
            </a:r>
            <a:r>
              <a:rPr lang="en-US" dirty="0"/>
              <a:t>are nonexcludable, it’s difficult to get people to pay for them voluntarily.</a:t>
            </a:r>
          </a:p>
          <a:p>
            <a:pPr>
              <a:spcAft>
                <a:spcPts val="1800"/>
              </a:spcAft>
            </a:pPr>
            <a:r>
              <a:rPr lang="en-US" dirty="0"/>
              <a:t>Markets will tend to underprovide public goods.</a:t>
            </a:r>
          </a:p>
          <a:p>
            <a:pPr>
              <a:spcAft>
                <a:spcPts val="1800"/>
              </a:spcAft>
            </a:pPr>
            <a:r>
              <a:rPr lang="en-US" dirty="0"/>
              <a:t>Public goods are also nonrival, which means that one person’s use doesn’t reduce another person’s ability to use the good.</a:t>
            </a:r>
          </a:p>
          <a:p>
            <a:pPr>
              <a:spcAft>
                <a:spcPts val="1800"/>
              </a:spcAft>
            </a:pPr>
            <a:r>
              <a:rPr lang="en-US" dirty="0"/>
              <a:t>The planet’s 7 billion people can be protected from an asteroid for the same cost as protecting 1 million people.</a:t>
            </a:r>
          </a:p>
        </p:txBody>
      </p:sp>
    </p:spTree>
    <p:extLst>
      <p:ext uri="{BB962C8B-B14F-4D97-AF65-F5344CB8AC3E}">
        <p14:creationId xmlns:p14="http://schemas.microsoft.com/office/powerpoint/2010/main" val="33120437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(4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Free rider:</a:t>
            </a:r>
          </a:p>
          <a:p>
            <a:pPr marL="0" indent="0">
              <a:spcAft>
                <a:spcPts val="1800"/>
              </a:spcAft>
              <a:buNone/>
            </a:pPr>
            <a:r>
              <a:rPr lang="en-US" i="1" dirty="0"/>
              <a:t>Someone who enjoys the benefits of a public good without paying a share of the costs.</a:t>
            </a:r>
            <a:endParaRPr lang="en-US" b="1" dirty="0"/>
          </a:p>
          <a:p>
            <a:pPr marL="0" indent="0">
              <a:spcAft>
                <a:spcPts val="600"/>
              </a:spcAft>
              <a:buFont typeface="Wingdings" pitchFamily="2" charset="2"/>
              <a:buNone/>
            </a:pPr>
            <a:r>
              <a:rPr lang="en-US" b="1" dirty="0"/>
              <a:t>Forced rider:</a:t>
            </a:r>
          </a:p>
          <a:p>
            <a:pPr marL="0" indent="0">
              <a:buFont typeface="Wingdings" pitchFamily="2" charset="2"/>
              <a:buNone/>
            </a:pPr>
            <a:r>
              <a:rPr lang="en-US" i="1" dirty="0"/>
              <a:t>Someone who pays a share of the costs of a public good but who does not enjoy the benefits.</a:t>
            </a:r>
          </a:p>
        </p:txBody>
      </p:sp>
    </p:spTree>
    <p:extLst>
      <p:ext uri="{BB962C8B-B14F-4D97-AF65-F5344CB8AC3E}">
        <p14:creationId xmlns:p14="http://schemas.microsoft.com/office/powerpoint/2010/main" val="427327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Goods and Public Goods (3 of</a:t>
            </a:r>
            <a:r>
              <a:rPr lang="en-US" baseline="0" dirty="0"/>
              <a:t> 5</a:t>
            </a:r>
            <a:r>
              <a:rPr lang="en-US" dirty="0"/>
              <a:t>)</a:t>
            </a:r>
          </a:p>
        </p:txBody>
      </p:sp>
      <p:sp>
        <p:nvSpPr>
          <p:cNvPr id="3" name="Content Placeholder 2"/>
          <p:cNvSpPr>
            <a:spLocks noGrp="1"/>
          </p:cNvSpPr>
          <p:nvPr>
            <p:ph idx="1"/>
          </p:nvPr>
        </p:nvSpPr>
        <p:spPr/>
        <p:txBody>
          <a:bodyPr>
            <a:normAutofit fontScale="92500" lnSpcReduction="10000"/>
          </a:bodyPr>
          <a:lstStyle/>
          <a:p>
            <a:pPr>
              <a:spcAft>
                <a:spcPts val="1800"/>
              </a:spcAft>
            </a:pPr>
            <a:r>
              <a:rPr lang="en-US" dirty="0"/>
              <a:t>Because public goods are nonexcludable, some people will </a:t>
            </a:r>
            <a:r>
              <a:rPr lang="en-US" i="1" dirty="0"/>
              <a:t>free ride</a:t>
            </a:r>
            <a:r>
              <a:rPr lang="en-US" dirty="0"/>
              <a:t>.</a:t>
            </a:r>
          </a:p>
          <a:p>
            <a:pPr>
              <a:spcAft>
                <a:spcPts val="1800"/>
              </a:spcAft>
            </a:pPr>
            <a:r>
              <a:rPr lang="en-US" dirty="0"/>
              <a:t>If people free ride, the good will be underprovided by the market.</a:t>
            </a:r>
          </a:p>
          <a:p>
            <a:pPr>
              <a:spcAft>
                <a:spcPts val="1800"/>
              </a:spcAft>
            </a:pPr>
            <a:r>
              <a:rPr lang="en-US" dirty="0"/>
              <a:t>By taxing everyone to pay for the public good, government can make people better off.</a:t>
            </a:r>
          </a:p>
          <a:p>
            <a:pPr>
              <a:spcAft>
                <a:spcPts val="1800"/>
              </a:spcAft>
            </a:pPr>
            <a:r>
              <a:rPr lang="en-US" dirty="0"/>
              <a:t>Taxation means that some people will be turned into </a:t>
            </a:r>
            <a:r>
              <a:rPr lang="en-US" i="1" dirty="0"/>
              <a:t>forced riders</a:t>
            </a:r>
            <a:r>
              <a:rPr lang="en-US" dirty="0"/>
              <a:t>.</a:t>
            </a:r>
          </a:p>
          <a:p>
            <a:pPr>
              <a:spcAft>
                <a:spcPts val="1800"/>
              </a:spcAft>
            </a:pPr>
            <a:r>
              <a:rPr lang="en-US" dirty="0"/>
              <a:t>In principle, the government should produce the amount that maximizes total surplus.</a:t>
            </a:r>
          </a:p>
        </p:txBody>
      </p:sp>
    </p:spTree>
    <p:extLst>
      <p:ext uri="{BB962C8B-B14F-4D97-AF65-F5344CB8AC3E}">
        <p14:creationId xmlns:p14="http://schemas.microsoft.com/office/powerpoint/2010/main" val="323592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Self-Check (2 of 3)</a:t>
            </a:r>
          </a:p>
        </p:txBody>
      </p:sp>
      <p:sp>
        <p:nvSpPr>
          <p:cNvPr id="3" name="Content Placeholder 2"/>
          <p:cNvSpPr>
            <a:spLocks noGrp="1"/>
          </p:cNvSpPr>
          <p:nvPr>
            <p:ph idx="1"/>
          </p:nvPr>
        </p:nvSpPr>
        <p:spPr/>
        <p:txBody>
          <a:bodyPr>
            <a:normAutofit/>
          </a:bodyPr>
          <a:lstStyle/>
          <a:p>
            <a:pPr marL="0" indent="0">
              <a:spcAft>
                <a:spcPts val="1200"/>
              </a:spcAft>
              <a:buNone/>
            </a:pPr>
            <a:r>
              <a:rPr lang="en-US" dirty="0"/>
              <a:t>Someone who enjoys the benefits of a public good without paying some of the cost is called a:</a:t>
            </a:r>
          </a:p>
          <a:p>
            <a:pPr marL="514350" indent="-514350">
              <a:spcAft>
                <a:spcPts val="1200"/>
              </a:spcAft>
              <a:buAutoNum type="alphaLcPeriod"/>
            </a:pPr>
            <a:r>
              <a:rPr lang="en-US" dirty="0"/>
              <a:t>public good consumer.</a:t>
            </a:r>
          </a:p>
          <a:p>
            <a:pPr marL="514350" indent="-514350">
              <a:spcAft>
                <a:spcPts val="1200"/>
              </a:spcAft>
              <a:buAutoNum type="alphaLcPeriod"/>
            </a:pPr>
            <a:r>
              <a:rPr lang="en-US" dirty="0"/>
              <a:t>forced rider.</a:t>
            </a:r>
          </a:p>
          <a:p>
            <a:pPr marL="514350" indent="-514350">
              <a:spcAft>
                <a:spcPts val="1200"/>
              </a:spcAft>
              <a:buAutoNum type="alphaLcPeriod"/>
            </a:pPr>
            <a:r>
              <a:rPr lang="en-US" dirty="0"/>
              <a:t>free rider.</a:t>
            </a:r>
          </a:p>
        </p:txBody>
      </p:sp>
    </p:spTree>
    <p:extLst>
      <p:ext uri="{BB962C8B-B14F-4D97-AF65-F5344CB8AC3E}">
        <p14:creationId xmlns:p14="http://schemas.microsoft.com/office/powerpoint/2010/main" val="22524949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Self-Check (2 of 3) (Answer)</a:t>
            </a:r>
          </a:p>
        </p:txBody>
      </p:sp>
      <p:sp>
        <p:nvSpPr>
          <p:cNvPr id="3" name="Content Placeholder 2"/>
          <p:cNvSpPr>
            <a:spLocks noGrp="1"/>
          </p:cNvSpPr>
          <p:nvPr>
            <p:ph idx="1"/>
          </p:nvPr>
        </p:nvSpPr>
        <p:spPr/>
        <p:txBody>
          <a:bodyPr>
            <a:normAutofit/>
          </a:bodyPr>
          <a:lstStyle/>
          <a:p>
            <a:pPr marL="0" indent="0">
              <a:spcAft>
                <a:spcPts val="1200"/>
              </a:spcAft>
              <a:buNone/>
            </a:pPr>
            <a:r>
              <a:rPr lang="en-US" dirty="0"/>
              <a:t>Someone who enjoys the benefits of a public good without paying some of the cost is called a:</a:t>
            </a:r>
          </a:p>
          <a:p>
            <a:pPr marL="514350" indent="-514350">
              <a:spcAft>
                <a:spcPts val="1200"/>
              </a:spcAft>
              <a:buAutoNum type="alphaLcPeriod"/>
            </a:pPr>
            <a:r>
              <a:rPr lang="en-US" dirty="0"/>
              <a:t>public good consumer.</a:t>
            </a:r>
          </a:p>
          <a:p>
            <a:pPr marL="514350" indent="-514350">
              <a:spcAft>
                <a:spcPts val="1200"/>
              </a:spcAft>
              <a:buAutoNum type="alphaLcPeriod"/>
            </a:pPr>
            <a:r>
              <a:rPr lang="en-US" dirty="0"/>
              <a:t>forced rider.</a:t>
            </a:r>
          </a:p>
          <a:p>
            <a:pPr marL="514350" indent="-514350">
              <a:spcAft>
                <a:spcPts val="1800"/>
              </a:spcAft>
              <a:buAutoNum type="alphaLcPeriod"/>
            </a:pPr>
            <a:r>
              <a:rPr lang="en-US" dirty="0"/>
              <a:t>free rider.</a:t>
            </a:r>
          </a:p>
          <a:p>
            <a:pPr marL="0" indent="0">
              <a:spcAft>
                <a:spcPts val="1200"/>
              </a:spcAft>
              <a:buNone/>
            </a:pPr>
            <a:r>
              <a:rPr lang="en-US" b="1" dirty="0"/>
              <a:t>Answer: </a:t>
            </a:r>
          </a:p>
          <a:p>
            <a:pPr marL="514350" indent="-514350">
              <a:spcAft>
                <a:spcPts val="1200"/>
              </a:spcAft>
              <a:buFont typeface="+mj-lt"/>
              <a:buAutoNum type="alphaLcPeriod" startAt="3"/>
            </a:pPr>
            <a:r>
              <a:rPr lang="en-US" dirty="0"/>
              <a:t>Someone who enjoys a public good without paying the cost is called a free rider.</a:t>
            </a:r>
            <a:endParaRPr lang="en-US" b="1" dirty="0"/>
          </a:p>
        </p:txBody>
      </p:sp>
    </p:spTree>
    <p:extLst>
      <p:ext uri="{BB962C8B-B14F-4D97-AF65-F5344CB8AC3E}">
        <p14:creationId xmlns:p14="http://schemas.microsoft.com/office/powerpoint/2010/main" val="1733004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(5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Club goods:</a:t>
            </a:r>
          </a:p>
          <a:p>
            <a:pPr marL="0" indent="0">
              <a:buNone/>
            </a:pPr>
            <a:r>
              <a:rPr lang="en-US" i="1" dirty="0"/>
              <a:t>Goods that are excludable but nonrival.</a:t>
            </a:r>
          </a:p>
        </p:txBody>
      </p:sp>
    </p:spTree>
    <p:extLst>
      <p:ext uri="{BB962C8B-B14F-4D97-AF65-F5344CB8AC3E}">
        <p14:creationId xmlns:p14="http://schemas.microsoft.com/office/powerpoint/2010/main" val="21826269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Goods and Public Goods (4 of 5)</a:t>
            </a:r>
          </a:p>
        </p:txBody>
      </p:sp>
      <p:sp>
        <p:nvSpPr>
          <p:cNvPr id="3" name="Content Placeholder 2"/>
          <p:cNvSpPr>
            <a:spLocks noGrp="1"/>
          </p:cNvSpPr>
          <p:nvPr>
            <p:ph idx="1"/>
          </p:nvPr>
        </p:nvSpPr>
        <p:spPr/>
        <p:txBody>
          <a:bodyPr>
            <a:normAutofit/>
          </a:bodyPr>
          <a:lstStyle/>
          <a:p>
            <a:pPr>
              <a:spcAft>
                <a:spcPts val="1800"/>
              </a:spcAft>
            </a:pPr>
            <a:r>
              <a:rPr lang="en-US" sz="2400" i="1" dirty="0"/>
              <a:t>Club goods </a:t>
            </a:r>
            <a:r>
              <a:rPr lang="en-US" sz="2400" dirty="0"/>
              <a:t>(also called </a:t>
            </a:r>
            <a:r>
              <a:rPr lang="en-US" sz="2400" i="1" dirty="0"/>
              <a:t>nonrival</a:t>
            </a:r>
            <a:r>
              <a:rPr lang="en-US" sz="2400" dirty="0"/>
              <a:t> </a:t>
            </a:r>
            <a:r>
              <a:rPr lang="en-US" sz="2400" i="1" dirty="0"/>
              <a:t>private goods</a:t>
            </a:r>
            <a:r>
              <a:rPr lang="en-US" sz="2400" dirty="0"/>
              <a:t>) like television, music, and software are excludable but nonrival.</a:t>
            </a:r>
          </a:p>
          <a:p>
            <a:pPr>
              <a:spcAft>
                <a:spcPts val="1800"/>
              </a:spcAft>
            </a:pPr>
            <a:r>
              <a:rPr lang="en-US" sz="2400" dirty="0"/>
              <a:t>Markets can provide club goods, but they will be inefficient.</a:t>
            </a:r>
          </a:p>
          <a:p>
            <a:pPr>
              <a:spcAft>
                <a:spcPts val="1800"/>
              </a:spcAft>
            </a:pPr>
            <a:r>
              <a:rPr lang="en-US" sz="2400" dirty="0"/>
              <a:t>Some people who are willing to pay the cost (</a:t>
            </a:r>
            <a:r>
              <a:rPr lang="en-US" sz="2400" i="1" dirty="0"/>
              <a:t>MC</a:t>
            </a:r>
            <a:r>
              <a:rPr lang="en-US" sz="2400" dirty="0"/>
              <a:t>) but not the market price will be excluded.</a:t>
            </a:r>
          </a:p>
          <a:p>
            <a:r>
              <a:rPr lang="en-US" sz="2400" dirty="0"/>
              <a:t>Entrepreneurs try to find ways to:</a:t>
            </a:r>
          </a:p>
          <a:p>
            <a:pPr lvl="1"/>
            <a:r>
              <a:rPr lang="en-US" sz="2200" dirty="0"/>
              <a:t>Turn public goods into club goods</a:t>
            </a:r>
          </a:p>
          <a:p>
            <a:pPr lvl="1"/>
            <a:r>
              <a:rPr lang="en-US" sz="2200" dirty="0"/>
              <a:t>Profit from nonrival goods without relying on exclusion</a:t>
            </a:r>
          </a:p>
        </p:txBody>
      </p:sp>
    </p:spTree>
    <p:extLst>
      <p:ext uri="{BB962C8B-B14F-4D97-AF65-F5344CB8AC3E}">
        <p14:creationId xmlns:p14="http://schemas.microsoft.com/office/powerpoint/2010/main" val="1549220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Private Goods and Public Goods (5 of 5)</a:t>
            </a:r>
          </a:p>
        </p:txBody>
      </p:sp>
      <p:sp>
        <p:nvSpPr>
          <p:cNvPr id="3" name="Content Placeholder 2"/>
          <p:cNvSpPr>
            <a:spLocks noGrp="1"/>
          </p:cNvSpPr>
          <p:nvPr>
            <p:ph idx="1"/>
          </p:nvPr>
        </p:nvSpPr>
        <p:spPr/>
        <p:txBody>
          <a:bodyPr>
            <a:normAutofit/>
          </a:bodyPr>
          <a:lstStyle/>
          <a:p>
            <a:pPr>
              <a:spcAft>
                <a:spcPts val="1800"/>
              </a:spcAft>
            </a:pPr>
            <a:r>
              <a:rPr lang="en-US" dirty="0"/>
              <a:t>Some </a:t>
            </a:r>
            <a:r>
              <a:rPr lang="en-US" i="1" dirty="0"/>
              <a:t>public goods</a:t>
            </a:r>
            <a:r>
              <a:rPr lang="en-US" dirty="0"/>
              <a:t>, such as radio and television programs, are provided by markets.</a:t>
            </a:r>
          </a:p>
          <a:p>
            <a:pPr>
              <a:spcAft>
                <a:spcPts val="1800"/>
              </a:spcAft>
            </a:pPr>
            <a:r>
              <a:rPr lang="en-US" dirty="0"/>
              <a:t>Advertisers pay for the costs of the good, which is then given away for free.</a:t>
            </a:r>
          </a:p>
          <a:p>
            <a:pPr>
              <a:spcAft>
                <a:spcPts val="1800"/>
              </a:spcAft>
            </a:pPr>
            <a:r>
              <a:rPr lang="en-US" dirty="0"/>
              <a:t>Some </a:t>
            </a:r>
            <a:r>
              <a:rPr lang="en-US" i="1" dirty="0"/>
              <a:t>nonrival goods</a:t>
            </a:r>
            <a:r>
              <a:rPr lang="en-US" dirty="0"/>
              <a:t>, such as Google searches, are provided free even when they are excludable.</a:t>
            </a:r>
          </a:p>
          <a:p>
            <a:pPr>
              <a:spcAft>
                <a:spcPts val="1800"/>
              </a:spcAft>
            </a:pPr>
            <a:r>
              <a:rPr lang="en-US" dirty="0"/>
              <a:t>Other goods, such as Wi-Fi, are sold by private firms, paid for by advertising, given away to attract customers, or provided by local governments.</a:t>
            </a:r>
          </a:p>
        </p:txBody>
      </p:sp>
    </p:spTree>
    <p:extLst>
      <p:ext uri="{BB962C8B-B14F-4D97-AF65-F5344CB8AC3E}">
        <p14:creationId xmlns:p14="http://schemas.microsoft.com/office/powerpoint/2010/main" val="22675122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(6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Common resources:</a:t>
            </a:r>
            <a:endParaRPr lang="en-US" i="1" dirty="0"/>
          </a:p>
          <a:p>
            <a:pPr marL="0" indent="0">
              <a:buNone/>
            </a:pPr>
            <a:r>
              <a:rPr lang="en-US" i="1" dirty="0"/>
              <a:t>Goods that are nonexcludable but rival.</a:t>
            </a:r>
          </a:p>
        </p:txBody>
      </p:sp>
    </p:spTree>
    <p:extLst>
      <p:ext uri="{BB962C8B-B14F-4D97-AF65-F5344CB8AC3E}">
        <p14:creationId xmlns:p14="http://schemas.microsoft.com/office/powerpoint/2010/main" val="2906446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Definition (7 of 7)</a:t>
            </a:r>
          </a:p>
        </p:txBody>
      </p:sp>
      <p:sp>
        <p:nvSpPr>
          <p:cNvPr id="3" name="Content Placeholder 2"/>
          <p:cNvSpPr>
            <a:spLocks noGrp="1"/>
          </p:cNvSpPr>
          <p:nvPr>
            <p:ph idx="1"/>
          </p:nvPr>
        </p:nvSpPr>
        <p:spPr/>
        <p:txBody>
          <a:bodyPr>
            <a:normAutofit/>
          </a:bodyPr>
          <a:lstStyle/>
          <a:p>
            <a:pPr marL="0" indent="0">
              <a:spcAft>
                <a:spcPts val="600"/>
              </a:spcAft>
              <a:buNone/>
            </a:pPr>
            <a:r>
              <a:rPr lang="en-US" b="1" dirty="0"/>
              <a:t>Tragedy of the commons:</a:t>
            </a:r>
            <a:endParaRPr lang="en-US" i="1" dirty="0"/>
          </a:p>
          <a:p>
            <a:pPr marL="0" indent="0">
              <a:buNone/>
            </a:pPr>
            <a:r>
              <a:rPr lang="en-US" i="1" dirty="0"/>
              <a:t>The tendency of any resource that is unowned and hence nonexcludable to be overused and undermaintained</a:t>
            </a:r>
            <a:r>
              <a:rPr lang="en-US" dirty="0"/>
              <a:t>.</a:t>
            </a:r>
            <a:endParaRPr lang="en-US" i="1" dirty="0"/>
          </a:p>
        </p:txBody>
      </p:sp>
    </p:spTree>
    <p:extLst>
      <p:ext uri="{BB962C8B-B14F-4D97-AF65-F5344CB8AC3E}">
        <p14:creationId xmlns:p14="http://schemas.microsoft.com/office/powerpoint/2010/main" val="22699590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Common Resources and Tragedy of the Commons (1 of 3)</a:t>
            </a:r>
          </a:p>
        </p:txBody>
      </p:sp>
      <p:sp>
        <p:nvSpPr>
          <p:cNvPr id="3" name="Content Placeholder 2"/>
          <p:cNvSpPr>
            <a:spLocks noGrp="1"/>
          </p:cNvSpPr>
          <p:nvPr>
            <p:ph idx="1"/>
          </p:nvPr>
        </p:nvSpPr>
        <p:spPr/>
        <p:txBody>
          <a:bodyPr>
            <a:normAutofit/>
          </a:bodyPr>
          <a:lstStyle/>
          <a:p>
            <a:pPr>
              <a:spcAft>
                <a:spcPts val="1800"/>
              </a:spcAft>
            </a:pPr>
            <a:r>
              <a:rPr lang="en-US" dirty="0"/>
              <a:t>Until they are caught, tuna are unowned and hence nonexcludable.</a:t>
            </a:r>
          </a:p>
          <a:p>
            <a:pPr>
              <a:spcAft>
                <a:spcPts val="1800"/>
              </a:spcAft>
            </a:pPr>
            <a:r>
              <a:rPr lang="en-US" dirty="0"/>
              <a:t>But tuna are not public goods: When one person consumes a tuna, there is less for others.</a:t>
            </a:r>
          </a:p>
          <a:p>
            <a:pPr>
              <a:spcAft>
                <a:spcPts val="1800"/>
              </a:spcAft>
            </a:pPr>
            <a:r>
              <a:rPr lang="en-US" dirty="0"/>
              <a:t>Without ownership, there is very little incentive to conserve. </a:t>
            </a:r>
          </a:p>
          <a:p>
            <a:pPr>
              <a:spcAft>
                <a:spcPts val="1800"/>
              </a:spcAft>
            </a:pPr>
            <a:r>
              <a:rPr lang="en-US" dirty="0"/>
              <a:t>Tuna are therefore being driven toward extinction.</a:t>
            </a:r>
          </a:p>
        </p:txBody>
      </p:sp>
    </p:spTree>
    <p:extLst>
      <p:ext uri="{BB962C8B-B14F-4D97-AF65-F5344CB8AC3E}">
        <p14:creationId xmlns:p14="http://schemas.microsoft.com/office/powerpoint/2010/main" val="480001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dirty="0"/>
              <a:t>Common Resources and Tragedy of the Commons (2 of 3)</a:t>
            </a:r>
          </a:p>
        </p:txBody>
      </p:sp>
      <p:pic>
        <p:nvPicPr>
          <p:cNvPr id="10" name="Picture Placeholder 3" descr="A line graph shows a decline in Southern Bluefin Tuna catch from 80,000 in 1960 to around 40,000 in 1985 and less than 20,000 in 2015. ">
            <a:extLst>
              <a:ext uri="{FF2B5EF4-FFF2-40B4-BE49-F238E27FC236}">
                <a16:creationId xmlns:a16="http://schemas.microsoft.com/office/drawing/2014/main" id="{1FE08B68-DF03-417C-8ABF-4592C633A3C9}"/>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1568020" y="1441804"/>
            <a:ext cx="5973586" cy="4133855"/>
          </a:xfrm>
          <a:prstGeom prst="rect">
            <a:avLst/>
          </a:prstGeom>
        </p:spPr>
      </p:pic>
      <p:sp>
        <p:nvSpPr>
          <p:cNvPr id="7" name="Content Placeholder 6"/>
          <p:cNvSpPr>
            <a:spLocks noGrp="1"/>
          </p:cNvSpPr>
          <p:nvPr>
            <p:ph sz="quarter" idx="11"/>
          </p:nvPr>
        </p:nvSpPr>
        <p:spPr>
          <a:xfrm>
            <a:off x="277019" y="5618055"/>
            <a:ext cx="8589962" cy="479425"/>
          </a:xfrm>
        </p:spPr>
        <p:txBody>
          <a:bodyPr>
            <a:noAutofit/>
          </a:bodyPr>
          <a:lstStyle/>
          <a:p>
            <a:pPr marL="0" indent="0">
              <a:buNone/>
            </a:pPr>
            <a:r>
              <a:rPr lang="en-US" dirty="0"/>
              <a:t>Since 1960, the tuna catch has decreased by 75%.</a:t>
            </a:r>
          </a:p>
        </p:txBody>
      </p:sp>
    </p:spTree>
    <p:extLst>
      <p:ext uri="{BB962C8B-B14F-4D97-AF65-F5344CB8AC3E}">
        <p14:creationId xmlns:p14="http://schemas.microsoft.com/office/powerpoint/2010/main" val="1401858972"/>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Common Resources and Tragedy of the Commons (3 of 3)</a:t>
            </a:r>
          </a:p>
        </p:txBody>
      </p:sp>
      <p:sp>
        <p:nvSpPr>
          <p:cNvPr id="3" name="Content Placeholder 2"/>
          <p:cNvSpPr>
            <a:spLocks noGrp="1"/>
          </p:cNvSpPr>
          <p:nvPr>
            <p:ph idx="1"/>
          </p:nvPr>
        </p:nvSpPr>
        <p:spPr/>
        <p:txBody>
          <a:bodyPr>
            <a:normAutofit/>
          </a:bodyPr>
          <a:lstStyle/>
          <a:p>
            <a:pPr>
              <a:spcAft>
                <a:spcPts val="1800"/>
              </a:spcAft>
            </a:pPr>
            <a:r>
              <a:rPr lang="en-US" dirty="0"/>
              <a:t>The result of nonexcludability and rivalry is often overexploitation and </a:t>
            </a:r>
            <a:r>
              <a:rPr lang="en-US" dirty="0" err="1"/>
              <a:t>undermaintenance</a:t>
            </a:r>
            <a:r>
              <a:rPr lang="en-US" dirty="0"/>
              <a:t>.</a:t>
            </a:r>
          </a:p>
          <a:p>
            <a:r>
              <a:rPr lang="en-US" dirty="0"/>
              <a:t>When resources are unowned, users do not invest in maintenance because the benefits are mostly external.</a:t>
            </a:r>
          </a:p>
        </p:txBody>
      </p:sp>
    </p:spTree>
    <p:extLst>
      <p:ext uri="{BB962C8B-B14F-4D97-AF65-F5344CB8AC3E}">
        <p14:creationId xmlns:p14="http://schemas.microsoft.com/office/powerpoint/2010/main" val="42869189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2056" y="17266"/>
            <a:ext cx="8359888" cy="1059977"/>
          </a:xfrm>
        </p:spPr>
        <p:txBody>
          <a:bodyPr>
            <a:noAutofit/>
          </a:bodyPr>
          <a:lstStyle/>
          <a:p>
            <a:r>
              <a:rPr lang="en-US" dirty="0"/>
              <a:t>Solutions to Tragedy of the Commons (1 of 4)</a:t>
            </a:r>
          </a:p>
        </p:txBody>
      </p:sp>
      <p:sp>
        <p:nvSpPr>
          <p:cNvPr id="14" name="Content Placeholder 13"/>
          <p:cNvSpPr>
            <a:spLocks noGrp="1"/>
          </p:cNvSpPr>
          <p:nvPr>
            <p:ph type="body" sz="half" idx="2"/>
          </p:nvPr>
        </p:nvSpPr>
        <p:spPr>
          <a:xfrm>
            <a:off x="233649" y="1415396"/>
            <a:ext cx="4439951" cy="4736180"/>
          </a:xfrm>
        </p:spPr>
        <p:txBody>
          <a:bodyPr>
            <a:noAutofit/>
          </a:bodyPr>
          <a:lstStyle/>
          <a:p>
            <a:pPr marL="457200" indent="-457200">
              <a:spcAft>
                <a:spcPts val="1800"/>
              </a:spcAft>
              <a:buFont typeface="Arial" panose="020B0604020202020204" pitchFamily="34" charset="0"/>
              <a:buChar char="•"/>
            </a:pPr>
            <a:r>
              <a:rPr lang="en-US" sz="2400" dirty="0"/>
              <a:t>Elinor Ostrom found that all over the world, groups have avoided the tragedy of overfishing or overgrazing through the enforcement of norms.</a:t>
            </a:r>
          </a:p>
          <a:p>
            <a:pPr marL="457200" indent="-457200">
              <a:buFont typeface="Arial" panose="020B0604020202020204" pitchFamily="34" charset="0"/>
              <a:buChar char="•"/>
            </a:pPr>
            <a:r>
              <a:rPr lang="en-US" sz="2400" dirty="0"/>
              <a:t>This is more difficult to do, though, when a lot of unrelated people have access to the common resource.</a:t>
            </a:r>
          </a:p>
        </p:txBody>
      </p:sp>
      <p:pic>
        <p:nvPicPr>
          <p:cNvPr id="10" name="Picture Placeholder 3" descr="A still from a video shows a photo of Elinor Ostrom projected on a screen and a label reading Women in Economics.">
            <a:extLst>
              <a:ext uri="{FF2B5EF4-FFF2-40B4-BE49-F238E27FC236}">
                <a16:creationId xmlns:a16="http://schemas.microsoft.com/office/drawing/2014/main" id="{E5D43BE1-7F13-4225-AAAB-F7D89C8C07B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5824923" y="1415395"/>
            <a:ext cx="3182899" cy="2660904"/>
          </a:xfrm>
          <a:prstGeom prst="rect">
            <a:avLst/>
          </a:prstGeom>
        </p:spPr>
      </p:pic>
      <p:sp>
        <p:nvSpPr>
          <p:cNvPr id="7" name="Content Placeholder 6"/>
          <p:cNvSpPr>
            <a:spLocks noGrp="1"/>
          </p:cNvSpPr>
          <p:nvPr>
            <p:ph sz="quarter" idx="11"/>
          </p:nvPr>
        </p:nvSpPr>
        <p:spPr>
          <a:xfrm>
            <a:off x="4848562" y="4313037"/>
            <a:ext cx="4159260" cy="1362049"/>
          </a:xfrm>
        </p:spPr>
        <p:txBody>
          <a:bodyPr>
            <a:normAutofit/>
          </a:bodyPr>
          <a:lstStyle/>
          <a:p>
            <a:pPr marL="0" indent="0" algn="ctr">
              <a:buNone/>
            </a:pPr>
            <a:r>
              <a:rPr lang="en-US" sz="2200" b="1" dirty="0"/>
              <a:t>Elinor Ostrom</a:t>
            </a:r>
          </a:p>
          <a:p>
            <a:pPr marL="0" indent="0" algn="ctr">
              <a:buNone/>
            </a:pPr>
            <a:r>
              <a:rPr lang="en-US" sz="2200" dirty="0"/>
              <a:t>Winner of the Nobel Prize in Economics in 2009</a:t>
            </a:r>
          </a:p>
        </p:txBody>
      </p:sp>
    </p:spTree>
    <p:extLst>
      <p:ext uri="{BB962C8B-B14F-4D97-AF65-F5344CB8AC3E}">
        <p14:creationId xmlns:p14="http://schemas.microsoft.com/office/powerpoint/2010/main" val="230768689"/>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052" y="17266"/>
            <a:ext cx="8311896" cy="1059977"/>
          </a:xfrm>
        </p:spPr>
        <p:txBody>
          <a:bodyPr>
            <a:noAutofit/>
          </a:bodyPr>
          <a:lstStyle/>
          <a:p>
            <a:r>
              <a:rPr lang="en-US" dirty="0"/>
              <a:t>Solutions to Tragedy of the Commons (2 of 4)</a:t>
            </a:r>
          </a:p>
        </p:txBody>
      </p:sp>
      <p:sp>
        <p:nvSpPr>
          <p:cNvPr id="3" name="Content Placeholder 2"/>
          <p:cNvSpPr>
            <a:spLocks noGrp="1"/>
          </p:cNvSpPr>
          <p:nvPr>
            <p:ph idx="1"/>
          </p:nvPr>
        </p:nvSpPr>
        <p:spPr/>
        <p:txBody>
          <a:bodyPr>
            <a:normAutofit/>
          </a:bodyPr>
          <a:lstStyle/>
          <a:p>
            <a:pPr>
              <a:spcAft>
                <a:spcPts val="1800"/>
              </a:spcAft>
            </a:pPr>
            <a:r>
              <a:rPr lang="en-US" i="1" dirty="0"/>
              <a:t>Command and control </a:t>
            </a:r>
            <a:r>
              <a:rPr lang="en-US" dirty="0"/>
              <a:t>has been used to solve some tragedy of the commons problems.</a:t>
            </a:r>
          </a:p>
          <a:p>
            <a:pPr>
              <a:spcAft>
                <a:spcPts val="1800"/>
              </a:spcAft>
            </a:pPr>
            <a:r>
              <a:rPr lang="en-US" dirty="0"/>
              <a:t>In 1968, British Columbia limited the number of fishing boats to protect its salmon fishery.</a:t>
            </a:r>
          </a:p>
          <a:p>
            <a:pPr>
              <a:spcAft>
                <a:spcPts val="1800"/>
              </a:spcAft>
            </a:pPr>
            <a:r>
              <a:rPr lang="en-US" dirty="0"/>
              <a:t>Fishermen used “capital stuffing”—more powerful engines and better electronics for finding fish.</a:t>
            </a:r>
          </a:p>
          <a:p>
            <a:pPr>
              <a:spcAft>
                <a:spcPts val="1800"/>
              </a:spcAft>
            </a:pPr>
            <a:r>
              <a:rPr lang="en-US" dirty="0"/>
              <a:t>The value of the typical fishing boat tripled, but the salmon fishery continued to decline.</a:t>
            </a:r>
          </a:p>
        </p:txBody>
      </p:sp>
    </p:spTree>
    <p:extLst>
      <p:ext uri="{BB962C8B-B14F-4D97-AF65-F5344CB8AC3E}">
        <p14:creationId xmlns:p14="http://schemas.microsoft.com/office/powerpoint/2010/main" val="820655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6052" y="17266"/>
            <a:ext cx="8311896" cy="1059977"/>
          </a:xfrm>
        </p:spPr>
        <p:txBody>
          <a:bodyPr>
            <a:noAutofit/>
          </a:bodyPr>
          <a:lstStyle/>
          <a:p>
            <a:r>
              <a:rPr lang="en-US" dirty="0"/>
              <a:t>Solutions to Tragedy of the Commons (3 of 4)</a:t>
            </a:r>
          </a:p>
        </p:txBody>
      </p:sp>
      <p:sp>
        <p:nvSpPr>
          <p:cNvPr id="3" name="Content Placeholder 2"/>
          <p:cNvSpPr>
            <a:spLocks noGrp="1"/>
          </p:cNvSpPr>
          <p:nvPr>
            <p:ph idx="1"/>
          </p:nvPr>
        </p:nvSpPr>
        <p:spPr/>
        <p:txBody>
          <a:bodyPr>
            <a:normAutofit/>
          </a:bodyPr>
          <a:lstStyle/>
          <a:p>
            <a:pPr>
              <a:spcAft>
                <a:spcPts val="1800"/>
              </a:spcAft>
            </a:pPr>
            <a:r>
              <a:rPr lang="en-US" dirty="0"/>
              <a:t>In 1986, New Zealand tried </a:t>
            </a:r>
            <a:r>
              <a:rPr lang="en-US" i="1" dirty="0"/>
              <a:t>individual transferable quotas</a:t>
            </a:r>
            <a:r>
              <a:rPr lang="en-US" dirty="0"/>
              <a:t> (ITQs).</a:t>
            </a:r>
          </a:p>
          <a:p>
            <a:pPr>
              <a:spcAft>
                <a:spcPts val="1800"/>
              </a:spcAft>
            </a:pPr>
            <a:r>
              <a:rPr lang="en-US" dirty="0"/>
              <a:t>Each owner of an ITQ had the right to catch a certain tonnage of fish.</a:t>
            </a:r>
          </a:p>
          <a:p>
            <a:pPr>
              <a:spcAft>
                <a:spcPts val="1800"/>
              </a:spcAft>
            </a:pPr>
            <a:r>
              <a:rPr lang="en-US" dirty="0"/>
              <a:t>The sum of ITQs added up to the total allowable catch, and ITQs could be bought and sold.</a:t>
            </a:r>
          </a:p>
          <a:p>
            <a:pPr>
              <a:spcAft>
                <a:spcPts val="1800"/>
              </a:spcAft>
            </a:pPr>
            <a:r>
              <a:rPr lang="en-US" dirty="0"/>
              <a:t>The scheme was successful, leading to an increased fish catch.</a:t>
            </a:r>
          </a:p>
        </p:txBody>
      </p:sp>
    </p:spTree>
    <p:extLst>
      <p:ext uri="{BB962C8B-B14F-4D97-AF65-F5344CB8AC3E}">
        <p14:creationId xmlns:p14="http://schemas.microsoft.com/office/powerpoint/2010/main" val="3089130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16052" y="17266"/>
            <a:ext cx="8311896" cy="1059977"/>
          </a:xfrm>
        </p:spPr>
        <p:txBody>
          <a:bodyPr>
            <a:noAutofit/>
          </a:bodyPr>
          <a:lstStyle/>
          <a:p>
            <a:r>
              <a:rPr lang="en-US" dirty="0"/>
              <a:t>Solutions to Tragedy of the Commons (4 of 4)</a:t>
            </a:r>
          </a:p>
        </p:txBody>
      </p:sp>
      <p:pic>
        <p:nvPicPr>
          <p:cNvPr id="15" name="Picture Placeholder 3" descr="A line graph shows the increase in annual fish catch in New Zealand from 1980 to 2005.  The I T Qs began in 1986. Annual fish catch in New Zealand increased slowly to 100 from 1980 to 1985 and after 1986, increased rapidly to cross 600 by 2000. It then decreased slightly to reach nearly 500 by 2005.">
            <a:extLst>
              <a:ext uri="{FF2B5EF4-FFF2-40B4-BE49-F238E27FC236}">
                <a16:creationId xmlns:a16="http://schemas.microsoft.com/office/drawing/2014/main" id="{4FCB6DC5-4DDE-4C97-ACF3-45687FCB7356}"/>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tretch>
            <a:fillRect/>
          </a:stretch>
        </p:blipFill>
        <p:spPr>
          <a:xfrm>
            <a:off x="1165026" y="1519517"/>
            <a:ext cx="6570945" cy="4285134"/>
          </a:xfrm>
          <a:prstGeom prst="rect">
            <a:avLst/>
          </a:prstGeom>
        </p:spPr>
      </p:pic>
    </p:spTree>
    <p:extLst>
      <p:ext uri="{BB962C8B-B14F-4D97-AF65-F5344CB8AC3E}">
        <p14:creationId xmlns:p14="http://schemas.microsoft.com/office/powerpoint/2010/main" val="2989246632"/>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Self-Check (3 of 3)</a:t>
            </a:r>
          </a:p>
        </p:txBody>
      </p:sp>
      <p:sp>
        <p:nvSpPr>
          <p:cNvPr id="3" name="Content Placeholder 2"/>
          <p:cNvSpPr>
            <a:spLocks noGrp="1"/>
          </p:cNvSpPr>
          <p:nvPr>
            <p:ph idx="1"/>
          </p:nvPr>
        </p:nvSpPr>
        <p:spPr/>
        <p:txBody>
          <a:bodyPr>
            <a:normAutofit/>
          </a:bodyPr>
          <a:lstStyle/>
          <a:p>
            <a:pPr marL="0" indent="0">
              <a:spcAft>
                <a:spcPts val="1200"/>
              </a:spcAft>
              <a:buNone/>
            </a:pPr>
            <a:r>
              <a:rPr lang="en-US" dirty="0"/>
              <a:t>The tendency for common resources to be overused and undermaintained is called:</a:t>
            </a:r>
          </a:p>
          <a:p>
            <a:pPr marL="514350" indent="-514350">
              <a:spcAft>
                <a:spcPts val="1200"/>
              </a:spcAft>
              <a:buAutoNum type="alphaLcPeriod"/>
            </a:pPr>
            <a:r>
              <a:rPr lang="en-US" dirty="0"/>
              <a:t>the tragedy of the commons.</a:t>
            </a:r>
          </a:p>
          <a:p>
            <a:pPr marL="514350" indent="-514350">
              <a:spcAft>
                <a:spcPts val="1200"/>
              </a:spcAft>
              <a:buAutoNum type="alphaLcPeriod"/>
            </a:pPr>
            <a:r>
              <a:rPr lang="en-US" dirty="0"/>
              <a:t>command and control.</a:t>
            </a:r>
          </a:p>
          <a:p>
            <a:pPr marL="514350" indent="-514350">
              <a:spcAft>
                <a:spcPts val="1200"/>
              </a:spcAft>
              <a:buAutoNum type="alphaLcPeriod"/>
            </a:pPr>
            <a:r>
              <a:rPr lang="en-US" dirty="0"/>
              <a:t>tradable allowances.</a:t>
            </a:r>
          </a:p>
        </p:txBody>
      </p:sp>
    </p:spTree>
    <p:extLst>
      <p:ext uri="{BB962C8B-B14F-4D97-AF65-F5344CB8AC3E}">
        <p14:creationId xmlns:p14="http://schemas.microsoft.com/office/powerpoint/2010/main" val="883835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Self-Check (3 of 3) (Answer)</a:t>
            </a:r>
          </a:p>
        </p:txBody>
      </p:sp>
      <p:sp>
        <p:nvSpPr>
          <p:cNvPr id="3" name="Content Placeholder 2"/>
          <p:cNvSpPr>
            <a:spLocks noGrp="1"/>
          </p:cNvSpPr>
          <p:nvPr>
            <p:ph idx="1"/>
          </p:nvPr>
        </p:nvSpPr>
        <p:spPr/>
        <p:txBody>
          <a:bodyPr>
            <a:normAutofit/>
          </a:bodyPr>
          <a:lstStyle/>
          <a:p>
            <a:pPr marL="0" indent="0">
              <a:spcAft>
                <a:spcPts val="1200"/>
              </a:spcAft>
              <a:buNone/>
            </a:pPr>
            <a:r>
              <a:rPr lang="en-US" dirty="0"/>
              <a:t>The tendency for common resources to be overused and undermaintained is called:</a:t>
            </a:r>
          </a:p>
          <a:p>
            <a:pPr marL="514350" indent="-514350">
              <a:spcAft>
                <a:spcPts val="1200"/>
              </a:spcAft>
              <a:buAutoNum type="alphaLcPeriod"/>
            </a:pPr>
            <a:r>
              <a:rPr lang="en-US" dirty="0"/>
              <a:t>the tragedy of the commons.</a:t>
            </a:r>
          </a:p>
          <a:p>
            <a:pPr marL="514350" indent="-514350">
              <a:spcAft>
                <a:spcPts val="1200"/>
              </a:spcAft>
              <a:buAutoNum type="alphaLcPeriod"/>
            </a:pPr>
            <a:r>
              <a:rPr lang="en-US" dirty="0"/>
              <a:t>command and control.</a:t>
            </a:r>
          </a:p>
          <a:p>
            <a:pPr marL="514350" indent="-514350">
              <a:spcAft>
                <a:spcPts val="1800"/>
              </a:spcAft>
              <a:buAutoNum type="alphaLcPeriod"/>
            </a:pPr>
            <a:r>
              <a:rPr lang="en-US" dirty="0"/>
              <a:t>tradable allowances.</a:t>
            </a:r>
          </a:p>
          <a:p>
            <a:pPr marL="0" indent="0">
              <a:spcAft>
                <a:spcPts val="1200"/>
              </a:spcAft>
              <a:buNone/>
            </a:pPr>
            <a:r>
              <a:rPr lang="en-US" b="1" dirty="0"/>
              <a:t>Answer: </a:t>
            </a:r>
          </a:p>
          <a:p>
            <a:pPr marL="514350" indent="-514350">
              <a:spcAft>
                <a:spcPts val="1200"/>
              </a:spcAft>
              <a:buFont typeface="+mj-lt"/>
              <a:buAutoNum type="alphaLcPeriod"/>
            </a:pPr>
            <a:r>
              <a:rPr lang="en-US" dirty="0"/>
              <a:t>This tendency is called the tragedy of the commons</a:t>
            </a:r>
            <a:r>
              <a:rPr lang="en-US" i="1" dirty="0"/>
              <a:t>.</a:t>
            </a:r>
            <a:endParaRPr lang="en-US" b="1" dirty="0"/>
          </a:p>
        </p:txBody>
      </p:sp>
    </p:spTree>
    <p:extLst>
      <p:ext uri="{BB962C8B-B14F-4D97-AF65-F5344CB8AC3E}">
        <p14:creationId xmlns:p14="http://schemas.microsoft.com/office/powerpoint/2010/main" val="1159693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Takeaway (1 of 2)</a:t>
            </a:r>
          </a:p>
        </p:txBody>
      </p:sp>
      <p:sp>
        <p:nvSpPr>
          <p:cNvPr id="3" name="Content Placeholder 2"/>
          <p:cNvSpPr>
            <a:spLocks noGrp="1"/>
          </p:cNvSpPr>
          <p:nvPr>
            <p:ph idx="1"/>
          </p:nvPr>
        </p:nvSpPr>
        <p:spPr/>
        <p:txBody>
          <a:bodyPr>
            <a:normAutofit/>
          </a:bodyPr>
          <a:lstStyle/>
          <a:p>
            <a:pPr>
              <a:spcAft>
                <a:spcPts val="1800"/>
              </a:spcAft>
            </a:pPr>
            <a:r>
              <a:rPr lang="en-US" dirty="0"/>
              <a:t>Public goods are valuable but markets will often undersupply these goods.</a:t>
            </a:r>
          </a:p>
          <a:p>
            <a:pPr>
              <a:spcAft>
                <a:spcPts val="1800"/>
              </a:spcAft>
            </a:pPr>
            <a:r>
              <a:rPr lang="en-US" dirty="0"/>
              <a:t>Public goods are nonexcludable and nonrival; nonexcludability is usually the more important problem.</a:t>
            </a:r>
          </a:p>
          <a:p>
            <a:pPr>
              <a:spcAft>
                <a:spcPts val="1800"/>
              </a:spcAft>
            </a:pPr>
            <a:r>
              <a:rPr lang="en-US" dirty="0"/>
              <a:t>The benefit of providing public goods is an argument for government taxation and supply.</a:t>
            </a:r>
            <a:endParaRPr lang="en-US" b="1" dirty="0"/>
          </a:p>
        </p:txBody>
      </p:sp>
    </p:spTree>
    <p:extLst>
      <p:ext uri="{BB962C8B-B14F-4D97-AF65-F5344CB8AC3E}">
        <p14:creationId xmlns:p14="http://schemas.microsoft.com/office/powerpoint/2010/main" val="6584092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t>Takeaway (2 of 2)</a:t>
            </a:r>
          </a:p>
        </p:txBody>
      </p:sp>
      <p:sp>
        <p:nvSpPr>
          <p:cNvPr id="3" name="Content Placeholder 2"/>
          <p:cNvSpPr>
            <a:spLocks noGrp="1"/>
          </p:cNvSpPr>
          <p:nvPr>
            <p:ph idx="1"/>
          </p:nvPr>
        </p:nvSpPr>
        <p:spPr/>
        <p:txBody>
          <a:bodyPr>
            <a:normAutofit/>
          </a:bodyPr>
          <a:lstStyle/>
          <a:p>
            <a:pPr>
              <a:spcAft>
                <a:spcPts val="1800"/>
              </a:spcAft>
            </a:pPr>
            <a:r>
              <a:rPr lang="en-US" dirty="0"/>
              <a:t>A resource that is nonexcludable but rival will tend to be overused and undermaintained.</a:t>
            </a:r>
          </a:p>
          <a:p>
            <a:r>
              <a:rPr lang="en-US" dirty="0"/>
              <a:t>Sometimes there are creative solutions to the tragedy of the commons, such as instituting new property rights.</a:t>
            </a:r>
          </a:p>
        </p:txBody>
      </p:sp>
    </p:spTree>
    <p:extLst>
      <p:ext uri="{BB962C8B-B14F-4D97-AF65-F5344CB8AC3E}">
        <p14:creationId xmlns:p14="http://schemas.microsoft.com/office/powerpoint/2010/main" val="3253545366"/>
      </p:ext>
    </p:extLst>
  </p:cSld>
  <p:clrMapOvr>
    <a:masterClrMapping/>
  </p:clrMapOvr>
</p:sld>
</file>

<file path=ppt/theme/theme1.xml><?xml version="1.0" encoding="utf-8"?>
<a:theme xmlns:a="http://schemas.openxmlformats.org/drawingml/2006/main" name="1_Sampl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item.xml><?xml version="1.0" encoding="utf-8"?>
<w:document xmlns:w="http://schemas.openxmlformats.org/wordprocessingml/2006/main">
  <RequestId>dc5ecf01-2194-4663-bf2d-d1f56eb50d7a</RequestId>
  <RequestDate>4/12/2022 2:12:59 PM</RequestDate>
</w:document>
</file>

<file path=docProps/app.xml><?xml version="1.0" encoding="utf-8"?>
<Properties xmlns="http://schemas.openxmlformats.org/officeDocument/2006/extended-properties" xmlns:vt="http://schemas.openxmlformats.org/officeDocument/2006/docPropsVTypes">
  <Template/>
  <TotalTime>0</TotalTime>
  <Words>1552</Words>
  <Application>Microsoft Office PowerPoint</Application>
  <PresentationFormat>On-screen Show (4:3)</PresentationFormat>
  <Paragraphs>177</Paragraphs>
  <Slides>32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Courier New</vt:lpstr>
      <vt:lpstr>Wingdings</vt:lpstr>
      <vt:lpstr>1_Sample</vt:lpstr>
      <vt:lpstr>MODERN PRINCIPLES OF ECONOMICS</vt:lpstr>
      <vt:lpstr>Outline</vt:lpstr>
      <vt:lpstr>Introduction (1 of 2)</vt:lpstr>
      <vt:lpstr>Definition (1 of 7)</vt:lpstr>
      <vt:lpstr>Definition (2 of 7)</vt:lpstr>
      <vt:lpstr>Introduction (2 of 2)</vt:lpstr>
      <vt:lpstr>Four Types of Goods</vt:lpstr>
      <vt:lpstr>Definition (3 of 7)</vt:lpstr>
      <vt:lpstr>Self-Check (1 of 3)</vt:lpstr>
      <vt:lpstr>Self-Check (1 of 3) (Answer)</vt:lpstr>
      <vt:lpstr>Private Goods and Public Goods (1 of 5)</vt:lpstr>
      <vt:lpstr>Private Goods and Public Goods (2 of 5)</vt:lpstr>
      <vt:lpstr>Definition (4 of 7)</vt:lpstr>
      <vt:lpstr>Private Goods and Public Goods (3 of 5)</vt:lpstr>
      <vt:lpstr>Self-Check (2 of 3)</vt:lpstr>
      <vt:lpstr>Self-Check (2 of 3) (Answer)</vt:lpstr>
      <vt:lpstr>Definition (5 of 7)</vt:lpstr>
      <vt:lpstr>Private Goods and Public Goods (4 of 5)</vt:lpstr>
      <vt:lpstr>Private Goods and Public Goods (5 of 5)</vt:lpstr>
      <vt:lpstr>Definition (6 of 7)</vt:lpstr>
      <vt:lpstr>Definition (7 of 7)</vt:lpstr>
      <vt:lpstr>Common Resources and Tragedy of the Commons (1 of 3)</vt:lpstr>
      <vt:lpstr>Common Resources and Tragedy of the Commons (2 of 3)</vt:lpstr>
      <vt:lpstr>Common Resources and Tragedy of the Commons (3 of 3)</vt:lpstr>
      <vt:lpstr>Solutions to Tragedy of the Commons (1 of 4)</vt:lpstr>
      <vt:lpstr>Solutions to Tragedy of the Commons (2 of 4)</vt:lpstr>
      <vt:lpstr>Solutions to Tragedy of the Commons (3 of 4)</vt:lpstr>
      <vt:lpstr>Solutions to Tragedy of the Commons (4 of 4)</vt:lpstr>
      <vt:lpstr>Self-Check (3 of 3)</vt:lpstr>
      <vt:lpstr>Self-Check (3 of 3) (Answer)</vt:lpstr>
      <vt:lpstr>Takeaway (1 of 2)</vt:lpstr>
      <vt:lpstr>Takeaway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19 Public Goods and the Tragedy of the Commons</dc:title>
  <dc:creator/>
  <cp:lastModifiedBy/>
  <cp:revision>1</cp:revision>
  <dcterms:created xsi:type="dcterms:W3CDTF">2015-05-25T16:19:52Z</dcterms:created>
  <dcterms:modified xsi:type="dcterms:W3CDTF">2020-11-28T05:25:47Z</dcterms:modified>
</cp:coreProperties>
</file>